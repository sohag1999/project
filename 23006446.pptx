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embeddedFontLst>
    <p:embeddedFont>
      <p:font typeface="Palatino Linotype"/>
      <p:regular r:id="rId41"/>
      <p:bold r:id="rId42"/>
      <p:italic r:id="rId43"/>
      <p:boldItalic r:id="rId44"/>
    </p:embeddedFont>
    <p:embeddedFont>
      <p:font typeface="Century Gothic"/>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hIRc1w1KaPv22k3zQ+MysVSpbS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45902B-C43A-4705-847F-0C1A83677445}">
  <a:tblStyle styleId="{6545902B-C43A-4705-847F-0C1A836774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PalatinoLinotype-bold.fntdata"/><Relationship Id="rId41" Type="http://schemas.openxmlformats.org/officeDocument/2006/relationships/font" Target="fonts/PalatinoLinotype-regular.fntdata"/><Relationship Id="rId44" Type="http://schemas.openxmlformats.org/officeDocument/2006/relationships/font" Target="fonts/PalatinoLinotype-boldItalic.fntdata"/><Relationship Id="rId43" Type="http://schemas.openxmlformats.org/officeDocument/2006/relationships/font" Target="fonts/PalatinoLinotype-italic.fntdata"/><Relationship Id="rId46" Type="http://schemas.openxmlformats.org/officeDocument/2006/relationships/font" Target="fonts/CenturyGothic-bold.fntdata"/><Relationship Id="rId45" Type="http://schemas.openxmlformats.org/officeDocument/2006/relationships/font" Target="fonts/CenturyGothic-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CenturyGothic-boldItalic.fntdata"/><Relationship Id="rId47" Type="http://schemas.openxmlformats.org/officeDocument/2006/relationships/font" Target="fonts/CenturyGothic-italic.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36"/>
          <p:cNvSpPr txBox="1"/>
          <p:nvPr>
            <p:ph type="ctrTitle"/>
          </p:nvPr>
        </p:nvSpPr>
        <p:spPr>
          <a:xfrm>
            <a:off x="685800" y="609601"/>
            <a:ext cx="7772400" cy="426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8000"/>
              <a:buFont typeface="Palatino Linotype"/>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6"/>
          <p:cNvSpPr txBox="1"/>
          <p:nvPr>
            <p:ph idx="1" type="subTitle"/>
          </p:nvPr>
        </p:nvSpPr>
        <p:spPr>
          <a:xfrm>
            <a:off x="1371600" y="4953000"/>
            <a:ext cx="6400800" cy="1219200"/>
          </a:xfrm>
          <a:prstGeom prst="rect">
            <a:avLst/>
          </a:prstGeom>
          <a:noFill/>
          <a:ln>
            <a:noFill/>
          </a:ln>
        </p:spPr>
        <p:txBody>
          <a:bodyPr anchorCtr="0" anchor="t" bIns="45700" lIns="91425" spcFirstLastPara="1" rIns="91425" wrap="square" tIns="45700">
            <a:normAutofit/>
          </a:bodyPr>
          <a:lstStyle>
            <a:lvl1pPr lvl="0" algn="ctr">
              <a:spcBef>
                <a:spcPts val="480"/>
              </a:spcBef>
              <a:spcAft>
                <a:spcPts val="0"/>
              </a:spcAft>
              <a:buClr>
                <a:srgbClr val="888888"/>
              </a:buClr>
              <a:buSzPts val="2400"/>
              <a:buNone/>
              <a:defRPr sz="2400">
                <a:solidFill>
                  <a:srgbClr val="888888"/>
                </a:solidFill>
              </a:defRPr>
            </a:lvl1pPr>
            <a:lvl2pPr lvl="1" algn="ctr">
              <a:spcBef>
                <a:spcPts val="320"/>
              </a:spcBef>
              <a:spcAft>
                <a:spcPts val="0"/>
              </a:spcAft>
              <a:buClr>
                <a:srgbClr val="888888"/>
              </a:buClr>
              <a:buSzPts val="1600"/>
              <a:buNone/>
              <a:defRPr>
                <a:solidFill>
                  <a:srgbClr val="888888"/>
                </a:solidFill>
              </a:defRPr>
            </a:lvl2pPr>
            <a:lvl3pPr lvl="2" algn="ctr">
              <a:spcBef>
                <a:spcPts val="320"/>
              </a:spcBef>
              <a:spcAft>
                <a:spcPts val="0"/>
              </a:spcAft>
              <a:buClr>
                <a:srgbClr val="888888"/>
              </a:buClr>
              <a:buSzPts val="16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320"/>
              </a:spcBef>
              <a:spcAft>
                <a:spcPts val="0"/>
              </a:spcAft>
              <a:buClr>
                <a:srgbClr val="888888"/>
              </a:buClr>
              <a:buSzPts val="1600"/>
              <a:buNone/>
              <a:defRPr>
                <a:solidFill>
                  <a:srgbClr val="888888"/>
                </a:solidFill>
              </a:defRPr>
            </a:lvl6pPr>
            <a:lvl7pPr lvl="6" algn="ctr">
              <a:spcBef>
                <a:spcPts val="320"/>
              </a:spcBef>
              <a:spcAft>
                <a:spcPts val="0"/>
              </a:spcAft>
              <a:buClr>
                <a:srgbClr val="888888"/>
              </a:buClr>
              <a:buSzPts val="1600"/>
              <a:buNone/>
              <a:defRPr>
                <a:solidFill>
                  <a:srgbClr val="888888"/>
                </a:solidFill>
              </a:defRPr>
            </a:lvl7pPr>
            <a:lvl8pPr lvl="7" algn="ctr">
              <a:spcBef>
                <a:spcPts val="320"/>
              </a:spcBef>
              <a:spcAft>
                <a:spcPts val="0"/>
              </a:spcAft>
              <a:buClr>
                <a:srgbClr val="888888"/>
              </a:buClr>
              <a:buSzPts val="1600"/>
              <a:buNone/>
              <a:defRPr>
                <a:solidFill>
                  <a:srgbClr val="888888"/>
                </a:solidFill>
              </a:defRPr>
            </a:lvl8pPr>
            <a:lvl9pPr lvl="8" algn="ctr">
              <a:spcBef>
                <a:spcPts val="320"/>
              </a:spcBef>
              <a:spcAft>
                <a:spcPts val="0"/>
              </a:spcAft>
              <a:buClr>
                <a:srgbClr val="888888"/>
              </a:buClr>
              <a:buSzPts val="1600"/>
              <a:buNone/>
              <a:defRPr>
                <a:solidFill>
                  <a:srgbClr val="888888"/>
                </a:solidFill>
              </a:defRPr>
            </a:lvl9pPr>
          </a:lstStyle>
          <a:p/>
        </p:txBody>
      </p:sp>
      <p:sp>
        <p:nvSpPr>
          <p:cNvPr id="16" name="Google Shape;16;p36"/>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6"/>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8" name="Google Shape;18;p36"/>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7"/>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30200" lvl="4" marL="2286000" algn="l">
              <a:spcBef>
                <a:spcPts val="320"/>
              </a:spcBef>
              <a:spcAft>
                <a:spcPts val="0"/>
              </a:spcAft>
              <a:buClr>
                <a:srgbClr val="7F7F7F"/>
              </a:buClr>
              <a:buSzPts val="1600"/>
              <a:buChar char="•"/>
              <a:defRPr/>
            </a:lvl5pPr>
            <a:lvl6pPr indent="-330200" lvl="5" marL="2743200" algn="l">
              <a:spcBef>
                <a:spcPts val="320"/>
              </a:spcBef>
              <a:spcAft>
                <a:spcPts val="0"/>
              </a:spcAft>
              <a:buClr>
                <a:srgbClr val="7F7F7F"/>
              </a:buClr>
              <a:buSzPts val="1600"/>
              <a:buChar char="o"/>
              <a:defRPr/>
            </a:lvl6pPr>
            <a:lvl7pPr indent="-330200" lvl="6" marL="3200400" algn="l">
              <a:spcBef>
                <a:spcPts val="320"/>
              </a:spcBef>
              <a:spcAft>
                <a:spcPts val="0"/>
              </a:spcAft>
              <a:buClr>
                <a:srgbClr val="7F7F7F"/>
              </a:buClr>
              <a:buSzPts val="1600"/>
              <a:buChar char="•"/>
              <a:defRPr/>
            </a:lvl7pPr>
            <a:lvl8pPr indent="-330200" lvl="7" marL="3657600" algn="l">
              <a:spcBef>
                <a:spcPts val="320"/>
              </a:spcBef>
              <a:spcAft>
                <a:spcPts val="0"/>
              </a:spcAft>
              <a:buClr>
                <a:srgbClr val="7F7F7F"/>
              </a:buClr>
              <a:buSzPts val="1600"/>
              <a:buChar char="o"/>
              <a:defRPr/>
            </a:lvl8pPr>
            <a:lvl9pPr indent="-330200" lvl="8" marL="4114800" algn="l">
              <a:spcBef>
                <a:spcPts val="320"/>
              </a:spcBef>
              <a:spcAft>
                <a:spcPts val="0"/>
              </a:spcAft>
              <a:buClr>
                <a:srgbClr val="7F7F7F"/>
              </a:buClr>
              <a:buSzPts val="1600"/>
              <a:buFont typeface="Arial"/>
              <a:buChar char="•"/>
              <a:defRPr/>
            </a:lvl9pPr>
          </a:lstStyle>
          <a:p/>
        </p:txBody>
      </p:sp>
      <p:sp>
        <p:nvSpPr>
          <p:cNvPr id="22" name="Google Shape;22;p37"/>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7"/>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7"/>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8"/>
          <p:cNvSpPr txBox="1"/>
          <p:nvPr>
            <p:ph type="title"/>
          </p:nvPr>
        </p:nvSpPr>
        <p:spPr>
          <a:xfrm>
            <a:off x="722313" y="1371600"/>
            <a:ext cx="7772400" cy="2505075"/>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800"/>
              <a:buFont typeface="Palatino Linotype"/>
              <a:buNone/>
              <a:defRPr sz="4800">
                <a:solidFill>
                  <a:schemeClr val="dk2"/>
                </a:solidFill>
                <a:latin typeface="Palatino Linotype"/>
                <a:ea typeface="Palatino Linotype"/>
                <a:cs typeface="Palatino Linotype"/>
                <a:sym typeface="Palatino Linoty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8"/>
          <p:cNvSpPr txBox="1"/>
          <p:nvPr>
            <p:ph idx="1" type="body"/>
          </p:nvPr>
        </p:nvSpPr>
        <p:spPr>
          <a:xfrm>
            <a:off x="722313" y="4068763"/>
            <a:ext cx="7772400" cy="1131887"/>
          </a:xfrm>
          <a:prstGeom prst="rect">
            <a:avLst/>
          </a:prstGeom>
          <a:noFill/>
          <a:ln>
            <a:noFill/>
          </a:ln>
        </p:spPr>
        <p:txBody>
          <a:bodyPr anchorCtr="0" anchor="t" bIns="45700" lIns="91425" spcFirstLastPara="1" rIns="91425" wrap="square" tIns="45700">
            <a:normAutofit/>
          </a:bodyPr>
          <a:lstStyle>
            <a:lvl1pPr indent="-228600" lvl="0" marL="457200" algn="ctr">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8" name="Google Shape;28;p38"/>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8"/>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8"/>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38"/>
          <p:cNvSpPr/>
          <p:nvPr/>
        </p:nvSpPr>
        <p:spPr>
          <a:xfrm>
            <a:off x="4495800" y="3924300"/>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alatino Linotype"/>
              <a:ea typeface="Palatino Linotype"/>
              <a:cs typeface="Palatino Linotype"/>
              <a:sym typeface="Palatino Linotype"/>
            </a:endParaRPr>
          </a:p>
        </p:txBody>
      </p:sp>
      <p:sp>
        <p:nvSpPr>
          <p:cNvPr id="32" name="Google Shape;32;p38"/>
          <p:cNvSpPr/>
          <p:nvPr/>
        </p:nvSpPr>
        <p:spPr>
          <a:xfrm>
            <a:off x="4695825" y="3924300"/>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alatino Linotype"/>
              <a:ea typeface="Palatino Linotype"/>
              <a:cs typeface="Palatino Linotype"/>
              <a:sym typeface="Palatino Linotype"/>
            </a:endParaRPr>
          </a:p>
        </p:txBody>
      </p:sp>
      <p:sp>
        <p:nvSpPr>
          <p:cNvPr id="33" name="Google Shape;33;p38"/>
          <p:cNvSpPr/>
          <p:nvPr/>
        </p:nvSpPr>
        <p:spPr>
          <a:xfrm>
            <a:off x="4296728" y="3924300"/>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alatino Linotype"/>
              <a:ea typeface="Palatino Linotype"/>
              <a:cs typeface="Palatino Linotype"/>
              <a:sym typeface="Palatino Linotyp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9"/>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9"/>
          <p:cNvSpPr txBox="1"/>
          <p:nvPr>
            <p:ph idx="1"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7F7F7F"/>
              </a:buClr>
              <a:buSzPts val="2400"/>
              <a:buChar char="•"/>
              <a:defRPr sz="2400"/>
            </a:lvl1pPr>
            <a:lvl2pPr indent="-330200" lvl="1" marL="914400" algn="l">
              <a:spcBef>
                <a:spcPts val="320"/>
              </a:spcBef>
              <a:spcAft>
                <a:spcPts val="0"/>
              </a:spcAft>
              <a:buClr>
                <a:srgbClr val="7F7F7F"/>
              </a:buClr>
              <a:buSzPts val="1600"/>
              <a:buChar char="o"/>
              <a:defRPr sz="1600"/>
            </a:lvl2pPr>
            <a:lvl3pPr indent="-330200" lvl="2" marL="1371600" algn="l">
              <a:spcBef>
                <a:spcPts val="320"/>
              </a:spcBef>
              <a:spcAft>
                <a:spcPts val="0"/>
              </a:spcAft>
              <a:buClr>
                <a:srgbClr val="7F7F7F"/>
              </a:buClr>
              <a:buSzPts val="1600"/>
              <a:buChar char="•"/>
              <a:defRPr sz="1600"/>
            </a:lvl3pPr>
            <a:lvl4pPr indent="-330200" lvl="3" marL="1828800" algn="l">
              <a:spcBef>
                <a:spcPts val="320"/>
              </a:spcBef>
              <a:spcAft>
                <a:spcPts val="0"/>
              </a:spcAft>
              <a:buClr>
                <a:srgbClr val="7F7F7F"/>
              </a:buClr>
              <a:buSzPts val="1600"/>
              <a:buChar char="o"/>
              <a:defRPr sz="1600"/>
            </a:lvl4pPr>
            <a:lvl5pPr indent="-330200" lvl="4" marL="2286000" algn="l">
              <a:spcBef>
                <a:spcPts val="320"/>
              </a:spcBef>
              <a:spcAft>
                <a:spcPts val="0"/>
              </a:spcAft>
              <a:buClr>
                <a:srgbClr val="7F7F7F"/>
              </a:buClr>
              <a:buSzPts val="1600"/>
              <a:buChar char="•"/>
              <a:defRPr sz="1600"/>
            </a:lvl5pPr>
            <a:lvl6pPr indent="-330200" lvl="5" marL="2743200" algn="l">
              <a:spcBef>
                <a:spcPts val="320"/>
              </a:spcBef>
              <a:spcAft>
                <a:spcPts val="0"/>
              </a:spcAft>
              <a:buClr>
                <a:srgbClr val="7F7F7F"/>
              </a:buClr>
              <a:buSzPts val="1600"/>
              <a:buChar char="o"/>
              <a:defRPr sz="1600"/>
            </a:lvl6pPr>
            <a:lvl7pPr indent="-330200" lvl="6" marL="3200400" algn="l">
              <a:spcBef>
                <a:spcPts val="320"/>
              </a:spcBef>
              <a:spcAft>
                <a:spcPts val="0"/>
              </a:spcAft>
              <a:buClr>
                <a:srgbClr val="7F7F7F"/>
              </a:buClr>
              <a:buSzPts val="1600"/>
              <a:buChar char="•"/>
              <a:defRPr sz="1600"/>
            </a:lvl7pPr>
            <a:lvl8pPr indent="-330200" lvl="7" marL="3657600" algn="l">
              <a:spcBef>
                <a:spcPts val="320"/>
              </a:spcBef>
              <a:spcAft>
                <a:spcPts val="0"/>
              </a:spcAft>
              <a:buClr>
                <a:srgbClr val="7F7F7F"/>
              </a:buClr>
              <a:buSzPts val="1600"/>
              <a:buChar char="o"/>
              <a:defRPr sz="1600"/>
            </a:lvl8pPr>
            <a:lvl9pPr indent="-330200" lvl="8" marL="4114800" algn="l">
              <a:spcBef>
                <a:spcPts val="320"/>
              </a:spcBef>
              <a:spcAft>
                <a:spcPts val="0"/>
              </a:spcAft>
              <a:buClr>
                <a:srgbClr val="7F7F7F"/>
              </a:buClr>
              <a:buSzPts val="1600"/>
              <a:buChar char="•"/>
              <a:defRPr sz="1600"/>
            </a:lvl9pPr>
          </a:lstStyle>
          <a:p/>
        </p:txBody>
      </p:sp>
      <p:sp>
        <p:nvSpPr>
          <p:cNvPr id="37" name="Google Shape;37;p39"/>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9"/>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9"/>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0" name="Google Shape;40;p39"/>
          <p:cNvSpPr txBox="1"/>
          <p:nvPr>
            <p:ph idx="2" type="body"/>
          </p:nvPr>
        </p:nvSpPr>
        <p:spPr>
          <a:xfrm>
            <a:off x="365760" y="1600200"/>
            <a:ext cx="4041648" cy="452628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0"/>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107407"/>
              </a:lnSpc>
              <a:spcBef>
                <a:spcPts val="0"/>
              </a:spcBef>
              <a:spcAft>
                <a:spcPts val="0"/>
              </a:spcAft>
              <a:buClr>
                <a:schemeClr val="dk2"/>
              </a:buClr>
              <a:buSzPts val="5400"/>
              <a:buFont typeface="Palatino Linoty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0"/>
          <p:cNvSpPr txBox="1"/>
          <p:nvPr>
            <p:ph idx="1" type="body"/>
          </p:nvPr>
        </p:nvSpPr>
        <p:spPr>
          <a:xfrm>
            <a:off x="457200" y="1600200"/>
            <a:ext cx="4040188" cy="609600"/>
          </a:xfrm>
          <a:prstGeom prst="rect">
            <a:avLst/>
          </a:prstGeom>
          <a:noFill/>
          <a:ln>
            <a:noFill/>
          </a:ln>
        </p:spPr>
        <p:txBody>
          <a:bodyPr anchorCtr="0" anchor="b" bIns="45700" lIns="91425" spcFirstLastPara="1" rIns="91425" wrap="square" tIns="45700">
            <a:noAutofit/>
          </a:bodyPr>
          <a:lstStyle>
            <a:lvl1pPr indent="-228600" lvl="0" marL="457200" algn="ctr">
              <a:spcBef>
                <a:spcPts val="480"/>
              </a:spcBef>
              <a:spcAft>
                <a:spcPts val="0"/>
              </a:spcAft>
              <a:buClr>
                <a:srgbClr val="7F7F7F"/>
              </a:buClr>
              <a:buSzPts val="2400"/>
              <a:buNone/>
              <a:defRPr b="0" sz="2400"/>
            </a:lvl1pPr>
            <a:lvl2pPr indent="-228600" lvl="1" marL="914400" algn="l">
              <a:spcBef>
                <a:spcPts val="400"/>
              </a:spcBef>
              <a:spcAft>
                <a:spcPts val="0"/>
              </a:spcAft>
              <a:buClr>
                <a:srgbClr val="7F7F7F"/>
              </a:buClr>
              <a:buSzPts val="2000"/>
              <a:buNone/>
              <a:defRPr b="1" sz="2000"/>
            </a:lvl2pPr>
            <a:lvl3pPr indent="-228600" lvl="2" marL="1371600" algn="l">
              <a:spcBef>
                <a:spcPts val="360"/>
              </a:spcBef>
              <a:spcAft>
                <a:spcPts val="0"/>
              </a:spcAft>
              <a:buClr>
                <a:srgbClr val="7F7F7F"/>
              </a:buClr>
              <a:buSzPts val="1800"/>
              <a:buNone/>
              <a:defRPr b="1" sz="1800"/>
            </a:lvl3pPr>
            <a:lvl4pPr indent="-228600" lvl="3" marL="1828800" algn="l">
              <a:spcBef>
                <a:spcPts val="320"/>
              </a:spcBef>
              <a:spcAft>
                <a:spcPts val="0"/>
              </a:spcAft>
              <a:buClr>
                <a:srgbClr val="7F7F7F"/>
              </a:buClr>
              <a:buSzPts val="1600"/>
              <a:buNone/>
              <a:defRPr b="1" sz="1600"/>
            </a:lvl4pPr>
            <a:lvl5pPr indent="-228600" lvl="4" marL="2286000" algn="l">
              <a:spcBef>
                <a:spcPts val="320"/>
              </a:spcBef>
              <a:spcAft>
                <a:spcPts val="0"/>
              </a:spcAft>
              <a:buClr>
                <a:srgbClr val="7F7F7F"/>
              </a:buClr>
              <a:buSzPts val="1600"/>
              <a:buNone/>
              <a:defRPr b="1" sz="1600"/>
            </a:lvl5pPr>
            <a:lvl6pPr indent="-228600" lvl="5" marL="2743200" algn="l">
              <a:spcBef>
                <a:spcPts val="320"/>
              </a:spcBef>
              <a:spcAft>
                <a:spcPts val="0"/>
              </a:spcAft>
              <a:buClr>
                <a:srgbClr val="7F7F7F"/>
              </a:buClr>
              <a:buSzPts val="1600"/>
              <a:buNone/>
              <a:defRPr b="1" sz="1600"/>
            </a:lvl6pPr>
            <a:lvl7pPr indent="-228600" lvl="6" marL="3200400" algn="l">
              <a:spcBef>
                <a:spcPts val="320"/>
              </a:spcBef>
              <a:spcAft>
                <a:spcPts val="0"/>
              </a:spcAft>
              <a:buClr>
                <a:srgbClr val="7F7F7F"/>
              </a:buClr>
              <a:buSzPts val="1600"/>
              <a:buNone/>
              <a:defRPr b="1" sz="1600"/>
            </a:lvl7pPr>
            <a:lvl8pPr indent="-228600" lvl="7" marL="3657600" algn="l">
              <a:spcBef>
                <a:spcPts val="320"/>
              </a:spcBef>
              <a:spcAft>
                <a:spcPts val="0"/>
              </a:spcAft>
              <a:buClr>
                <a:srgbClr val="7F7F7F"/>
              </a:buClr>
              <a:buSzPts val="1600"/>
              <a:buNone/>
              <a:defRPr b="1" sz="1600"/>
            </a:lvl8pPr>
            <a:lvl9pPr indent="-228600" lvl="8" marL="4114800" algn="l">
              <a:spcBef>
                <a:spcPts val="320"/>
              </a:spcBef>
              <a:spcAft>
                <a:spcPts val="0"/>
              </a:spcAft>
              <a:buClr>
                <a:srgbClr val="7F7F7F"/>
              </a:buClr>
              <a:buSzPts val="1600"/>
              <a:buNone/>
              <a:defRPr b="1" sz="1600"/>
            </a:lvl9pPr>
          </a:lstStyle>
          <a:p/>
        </p:txBody>
      </p:sp>
      <p:sp>
        <p:nvSpPr>
          <p:cNvPr id="44" name="Google Shape;44;p40"/>
          <p:cNvSpPr txBox="1"/>
          <p:nvPr>
            <p:ph idx="2" type="body"/>
          </p:nvPr>
        </p:nvSpPr>
        <p:spPr>
          <a:xfrm>
            <a:off x="4648200" y="1600200"/>
            <a:ext cx="4041775" cy="609600"/>
          </a:xfrm>
          <a:prstGeom prst="rect">
            <a:avLst/>
          </a:prstGeom>
          <a:noFill/>
          <a:ln>
            <a:noFill/>
          </a:ln>
        </p:spPr>
        <p:txBody>
          <a:bodyPr anchorCtr="0" anchor="b" bIns="45700" lIns="91425" spcFirstLastPara="1" rIns="91425" wrap="square" tIns="45700">
            <a:noAutofit/>
          </a:bodyPr>
          <a:lstStyle>
            <a:lvl1pPr indent="-228600" lvl="0" marL="457200" algn="ctr">
              <a:spcBef>
                <a:spcPts val="480"/>
              </a:spcBef>
              <a:spcAft>
                <a:spcPts val="0"/>
              </a:spcAft>
              <a:buClr>
                <a:srgbClr val="7F7F7F"/>
              </a:buClr>
              <a:buSzPts val="2400"/>
              <a:buNone/>
              <a:defRPr b="0" sz="2400"/>
            </a:lvl1pPr>
            <a:lvl2pPr indent="-228600" lvl="1" marL="914400" algn="l">
              <a:spcBef>
                <a:spcPts val="400"/>
              </a:spcBef>
              <a:spcAft>
                <a:spcPts val="0"/>
              </a:spcAft>
              <a:buClr>
                <a:srgbClr val="7F7F7F"/>
              </a:buClr>
              <a:buSzPts val="2000"/>
              <a:buNone/>
              <a:defRPr b="1" sz="2000"/>
            </a:lvl2pPr>
            <a:lvl3pPr indent="-228600" lvl="2" marL="1371600" algn="l">
              <a:spcBef>
                <a:spcPts val="360"/>
              </a:spcBef>
              <a:spcAft>
                <a:spcPts val="0"/>
              </a:spcAft>
              <a:buClr>
                <a:srgbClr val="7F7F7F"/>
              </a:buClr>
              <a:buSzPts val="1800"/>
              <a:buNone/>
              <a:defRPr b="1" sz="1800"/>
            </a:lvl3pPr>
            <a:lvl4pPr indent="-228600" lvl="3" marL="1828800" algn="l">
              <a:spcBef>
                <a:spcPts val="320"/>
              </a:spcBef>
              <a:spcAft>
                <a:spcPts val="0"/>
              </a:spcAft>
              <a:buClr>
                <a:srgbClr val="7F7F7F"/>
              </a:buClr>
              <a:buSzPts val="1600"/>
              <a:buNone/>
              <a:defRPr b="1" sz="1600"/>
            </a:lvl4pPr>
            <a:lvl5pPr indent="-228600" lvl="4" marL="2286000" algn="l">
              <a:spcBef>
                <a:spcPts val="320"/>
              </a:spcBef>
              <a:spcAft>
                <a:spcPts val="0"/>
              </a:spcAft>
              <a:buClr>
                <a:srgbClr val="7F7F7F"/>
              </a:buClr>
              <a:buSzPts val="1600"/>
              <a:buNone/>
              <a:defRPr b="1" sz="1600"/>
            </a:lvl5pPr>
            <a:lvl6pPr indent="-228600" lvl="5" marL="2743200" algn="l">
              <a:spcBef>
                <a:spcPts val="320"/>
              </a:spcBef>
              <a:spcAft>
                <a:spcPts val="0"/>
              </a:spcAft>
              <a:buClr>
                <a:srgbClr val="7F7F7F"/>
              </a:buClr>
              <a:buSzPts val="1600"/>
              <a:buNone/>
              <a:defRPr b="1" sz="1600"/>
            </a:lvl6pPr>
            <a:lvl7pPr indent="-228600" lvl="6" marL="3200400" algn="l">
              <a:spcBef>
                <a:spcPts val="320"/>
              </a:spcBef>
              <a:spcAft>
                <a:spcPts val="0"/>
              </a:spcAft>
              <a:buClr>
                <a:srgbClr val="7F7F7F"/>
              </a:buClr>
              <a:buSzPts val="1600"/>
              <a:buNone/>
              <a:defRPr b="1" sz="1600"/>
            </a:lvl7pPr>
            <a:lvl8pPr indent="-228600" lvl="7" marL="3657600" algn="l">
              <a:spcBef>
                <a:spcPts val="320"/>
              </a:spcBef>
              <a:spcAft>
                <a:spcPts val="0"/>
              </a:spcAft>
              <a:buClr>
                <a:srgbClr val="7F7F7F"/>
              </a:buClr>
              <a:buSzPts val="1600"/>
              <a:buNone/>
              <a:defRPr b="1" sz="1600"/>
            </a:lvl8pPr>
            <a:lvl9pPr indent="-228600" lvl="8" marL="4114800" algn="l">
              <a:spcBef>
                <a:spcPts val="320"/>
              </a:spcBef>
              <a:spcAft>
                <a:spcPts val="0"/>
              </a:spcAft>
              <a:buClr>
                <a:srgbClr val="7F7F7F"/>
              </a:buClr>
              <a:buSzPts val="1600"/>
              <a:buNone/>
              <a:defRPr b="1" sz="1600"/>
            </a:lvl9pPr>
          </a:lstStyle>
          <a:p/>
        </p:txBody>
      </p:sp>
      <p:sp>
        <p:nvSpPr>
          <p:cNvPr id="45" name="Google Shape;45;p40"/>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0"/>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0"/>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8" name="Google Shape;48;p40"/>
          <p:cNvSpPr txBox="1"/>
          <p:nvPr>
            <p:ph idx="3" type="body"/>
          </p:nvPr>
        </p:nvSpPr>
        <p:spPr>
          <a:xfrm>
            <a:off x="457200" y="2212848"/>
            <a:ext cx="4041648" cy="391363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
        <p:nvSpPr>
          <p:cNvPr id="49" name="Google Shape;49;p40"/>
          <p:cNvSpPr txBox="1"/>
          <p:nvPr>
            <p:ph idx="4" type="body"/>
          </p:nvPr>
        </p:nvSpPr>
        <p:spPr>
          <a:xfrm>
            <a:off x="4672584" y="2212848"/>
            <a:ext cx="4041648" cy="3913187"/>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41"/>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1"/>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1"/>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42"/>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2"/>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2"/>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43"/>
          <p:cNvSpPr txBox="1"/>
          <p:nvPr>
            <p:ph type="title"/>
          </p:nvPr>
        </p:nvSpPr>
        <p:spPr>
          <a:xfrm>
            <a:off x="5907087" y="266700"/>
            <a:ext cx="3008313" cy="20955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800"/>
              <a:buFont typeface="Palatino Linotype"/>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3"/>
          <p:cNvSpPr txBox="1"/>
          <p:nvPr>
            <p:ph idx="1" type="body"/>
          </p:nvPr>
        </p:nvSpPr>
        <p:spPr>
          <a:xfrm>
            <a:off x="719137" y="273050"/>
            <a:ext cx="4995863"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7F7F7F"/>
              </a:buClr>
              <a:buSzPts val="3200"/>
              <a:buChar char="•"/>
              <a:defRPr sz="3200"/>
            </a:lvl1pPr>
            <a:lvl2pPr indent="-406400" lvl="1" marL="914400" algn="l">
              <a:spcBef>
                <a:spcPts val="560"/>
              </a:spcBef>
              <a:spcAft>
                <a:spcPts val="0"/>
              </a:spcAft>
              <a:buClr>
                <a:srgbClr val="7F7F7F"/>
              </a:buClr>
              <a:buSzPts val="2800"/>
              <a:buChar char="o"/>
              <a:defRPr sz="2800"/>
            </a:lvl2pPr>
            <a:lvl3pPr indent="-381000" lvl="2" marL="1371600" algn="l">
              <a:spcBef>
                <a:spcPts val="480"/>
              </a:spcBef>
              <a:spcAft>
                <a:spcPts val="0"/>
              </a:spcAft>
              <a:buClr>
                <a:srgbClr val="7F7F7F"/>
              </a:buClr>
              <a:buSzPts val="2400"/>
              <a:buChar char="•"/>
              <a:defRPr sz="2400"/>
            </a:lvl3pPr>
            <a:lvl4pPr indent="-355600" lvl="3" marL="1828800" algn="l">
              <a:spcBef>
                <a:spcPts val="400"/>
              </a:spcBef>
              <a:spcAft>
                <a:spcPts val="0"/>
              </a:spcAft>
              <a:buClr>
                <a:srgbClr val="7F7F7F"/>
              </a:buClr>
              <a:buSzPts val="2000"/>
              <a:buChar char="o"/>
              <a:defRPr sz="2000"/>
            </a:lvl4pPr>
            <a:lvl5pPr indent="-355600" lvl="4" marL="2286000" algn="l">
              <a:spcBef>
                <a:spcPts val="400"/>
              </a:spcBef>
              <a:spcAft>
                <a:spcPts val="0"/>
              </a:spcAft>
              <a:buClr>
                <a:srgbClr val="7F7F7F"/>
              </a:buClr>
              <a:buSzPts val="2000"/>
              <a:buChar char="•"/>
              <a:defRPr sz="2000"/>
            </a:lvl5pPr>
            <a:lvl6pPr indent="-355600" lvl="5" marL="2743200" algn="l">
              <a:spcBef>
                <a:spcPts val="400"/>
              </a:spcBef>
              <a:spcAft>
                <a:spcPts val="0"/>
              </a:spcAft>
              <a:buClr>
                <a:srgbClr val="7F7F7F"/>
              </a:buClr>
              <a:buSzPts val="2000"/>
              <a:buChar char="o"/>
              <a:defRPr sz="2000"/>
            </a:lvl6pPr>
            <a:lvl7pPr indent="-355600" lvl="6" marL="3200400" algn="l">
              <a:spcBef>
                <a:spcPts val="400"/>
              </a:spcBef>
              <a:spcAft>
                <a:spcPts val="0"/>
              </a:spcAft>
              <a:buClr>
                <a:srgbClr val="7F7F7F"/>
              </a:buClr>
              <a:buSzPts val="2000"/>
              <a:buChar char="•"/>
              <a:defRPr sz="2000"/>
            </a:lvl7pPr>
            <a:lvl8pPr indent="-355600" lvl="7" marL="3657600" algn="l">
              <a:spcBef>
                <a:spcPts val="400"/>
              </a:spcBef>
              <a:spcAft>
                <a:spcPts val="0"/>
              </a:spcAft>
              <a:buClr>
                <a:srgbClr val="7F7F7F"/>
              </a:buClr>
              <a:buSzPts val="2000"/>
              <a:buChar char="o"/>
              <a:defRPr sz="2000"/>
            </a:lvl8pPr>
            <a:lvl9pPr indent="-355600" lvl="8" marL="4114800" algn="l">
              <a:spcBef>
                <a:spcPts val="400"/>
              </a:spcBef>
              <a:spcAft>
                <a:spcPts val="0"/>
              </a:spcAft>
              <a:buClr>
                <a:srgbClr val="7F7F7F"/>
              </a:buClr>
              <a:buSzPts val="2000"/>
              <a:buChar char="•"/>
              <a:defRPr sz="2000"/>
            </a:lvl9pPr>
          </a:lstStyle>
          <a:p/>
        </p:txBody>
      </p:sp>
      <p:sp>
        <p:nvSpPr>
          <p:cNvPr id="62" name="Google Shape;62;p43"/>
          <p:cNvSpPr txBox="1"/>
          <p:nvPr>
            <p:ph idx="2" type="body"/>
          </p:nvPr>
        </p:nvSpPr>
        <p:spPr>
          <a:xfrm>
            <a:off x="5907087" y="2438400"/>
            <a:ext cx="3008313" cy="3687763"/>
          </a:xfrm>
          <a:prstGeom prst="rect">
            <a:avLst/>
          </a:prstGeom>
          <a:noFill/>
          <a:ln>
            <a:noFill/>
          </a:ln>
        </p:spPr>
        <p:txBody>
          <a:bodyPr anchorCtr="0" anchor="t" bIns="45700" lIns="91425" spcFirstLastPara="1" rIns="91425" wrap="square" tIns="45700">
            <a:normAutofit/>
          </a:bodyPr>
          <a:lstStyle>
            <a:lvl1pPr indent="-228600" lvl="0" marL="457200" algn="ctr">
              <a:lnSpc>
                <a:spcPct val="125000"/>
              </a:lnSpc>
              <a:spcBef>
                <a:spcPts val="320"/>
              </a:spcBef>
              <a:spcAft>
                <a:spcPts val="0"/>
              </a:spcAft>
              <a:buClr>
                <a:srgbClr val="7F7F7F"/>
              </a:buClr>
              <a:buSzPts val="1600"/>
              <a:buNone/>
              <a:defRPr sz="1600"/>
            </a:lvl1pPr>
            <a:lvl2pPr indent="-228600" lvl="1" marL="914400" algn="l">
              <a:spcBef>
                <a:spcPts val="240"/>
              </a:spcBef>
              <a:spcAft>
                <a:spcPts val="0"/>
              </a:spcAft>
              <a:buClr>
                <a:srgbClr val="7F7F7F"/>
              </a:buClr>
              <a:buSzPts val="1200"/>
              <a:buNone/>
              <a:defRPr sz="1200"/>
            </a:lvl2pPr>
            <a:lvl3pPr indent="-228600" lvl="2" marL="1371600" algn="l">
              <a:spcBef>
                <a:spcPts val="200"/>
              </a:spcBef>
              <a:spcAft>
                <a:spcPts val="0"/>
              </a:spcAft>
              <a:buClr>
                <a:srgbClr val="7F7F7F"/>
              </a:buClr>
              <a:buSzPts val="1000"/>
              <a:buNone/>
              <a:defRPr sz="1000"/>
            </a:lvl3pPr>
            <a:lvl4pPr indent="-228600" lvl="3" marL="1828800" algn="l">
              <a:spcBef>
                <a:spcPts val="180"/>
              </a:spcBef>
              <a:spcAft>
                <a:spcPts val="0"/>
              </a:spcAft>
              <a:buClr>
                <a:srgbClr val="7F7F7F"/>
              </a:buClr>
              <a:buSzPts val="900"/>
              <a:buNone/>
              <a:defRPr sz="900"/>
            </a:lvl4pPr>
            <a:lvl5pPr indent="-228600" lvl="4" marL="2286000" algn="l">
              <a:spcBef>
                <a:spcPts val="180"/>
              </a:spcBef>
              <a:spcAft>
                <a:spcPts val="0"/>
              </a:spcAft>
              <a:buClr>
                <a:srgbClr val="7F7F7F"/>
              </a:buClr>
              <a:buSzPts val="900"/>
              <a:buNone/>
              <a:defRPr sz="900"/>
            </a:lvl5pPr>
            <a:lvl6pPr indent="-228600" lvl="5" marL="2743200" algn="l">
              <a:spcBef>
                <a:spcPts val="180"/>
              </a:spcBef>
              <a:spcAft>
                <a:spcPts val="0"/>
              </a:spcAft>
              <a:buClr>
                <a:srgbClr val="7F7F7F"/>
              </a:buClr>
              <a:buSzPts val="900"/>
              <a:buNone/>
              <a:defRPr sz="900"/>
            </a:lvl6pPr>
            <a:lvl7pPr indent="-228600" lvl="6" marL="3200400" algn="l">
              <a:spcBef>
                <a:spcPts val="180"/>
              </a:spcBef>
              <a:spcAft>
                <a:spcPts val="0"/>
              </a:spcAft>
              <a:buClr>
                <a:srgbClr val="7F7F7F"/>
              </a:buClr>
              <a:buSzPts val="900"/>
              <a:buNone/>
              <a:defRPr sz="900"/>
            </a:lvl7pPr>
            <a:lvl8pPr indent="-228600" lvl="7" marL="3657600" algn="l">
              <a:spcBef>
                <a:spcPts val="180"/>
              </a:spcBef>
              <a:spcAft>
                <a:spcPts val="0"/>
              </a:spcAft>
              <a:buClr>
                <a:srgbClr val="7F7F7F"/>
              </a:buClr>
              <a:buSzPts val="900"/>
              <a:buNone/>
              <a:defRPr sz="900"/>
            </a:lvl8pPr>
            <a:lvl9pPr indent="-228600" lvl="8" marL="4114800" algn="l">
              <a:spcBef>
                <a:spcPts val="180"/>
              </a:spcBef>
              <a:spcAft>
                <a:spcPts val="0"/>
              </a:spcAft>
              <a:buClr>
                <a:srgbClr val="7F7F7F"/>
              </a:buClr>
              <a:buSzPts val="900"/>
              <a:buNone/>
              <a:defRPr sz="900"/>
            </a:lvl9pPr>
          </a:lstStyle>
          <a:p/>
        </p:txBody>
      </p:sp>
      <p:sp>
        <p:nvSpPr>
          <p:cNvPr id="63" name="Google Shape;63;p43"/>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3"/>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3"/>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44"/>
          <p:cNvSpPr txBox="1"/>
          <p:nvPr>
            <p:ph type="title"/>
          </p:nvPr>
        </p:nvSpPr>
        <p:spPr>
          <a:xfrm>
            <a:off x="1679576" y="228600"/>
            <a:ext cx="5711824" cy="8953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800"/>
              <a:buFont typeface="Palatino Linotype"/>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44"/>
          <p:cNvSpPr/>
          <p:nvPr>
            <p:ph idx="2" type="pic"/>
          </p:nvPr>
        </p:nvSpPr>
        <p:spPr>
          <a:xfrm>
            <a:off x="1508126" y="1143000"/>
            <a:ext cx="6054724" cy="4541044"/>
          </a:xfrm>
          <a:prstGeom prst="rect">
            <a:avLst/>
          </a:prstGeom>
          <a:noFill/>
          <a:ln cap="flat" cmpd="sng" w="76200">
            <a:solidFill>
              <a:schemeClr val="lt1"/>
            </a:solidFill>
            <a:prstDash val="solid"/>
            <a:round/>
            <a:headEnd len="sm" w="sm" type="none"/>
            <a:tailEnd len="sm" w="sm" type="none"/>
          </a:ln>
          <a:effectLst>
            <a:outerShdw blurRad="88900" rotWithShape="0" algn="ctr" dir="5400000" dist="50800">
              <a:srgbClr val="000000">
                <a:alpha val="24705"/>
              </a:srgbClr>
            </a:outerShdw>
          </a:effectLst>
        </p:spPr>
      </p:sp>
      <p:sp>
        <p:nvSpPr>
          <p:cNvPr id="69" name="Google Shape;69;p44"/>
          <p:cNvSpPr txBox="1"/>
          <p:nvPr>
            <p:ph idx="1" type="body"/>
          </p:nvPr>
        </p:nvSpPr>
        <p:spPr>
          <a:xfrm>
            <a:off x="1679576" y="5810250"/>
            <a:ext cx="5711824" cy="53340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Clr>
                <a:srgbClr val="7F7F7F"/>
              </a:buClr>
              <a:buSzPts val="1600"/>
              <a:buNone/>
              <a:defRPr sz="1600"/>
            </a:lvl1pPr>
            <a:lvl2pPr indent="-228600" lvl="1" marL="914400" algn="l">
              <a:spcBef>
                <a:spcPts val="240"/>
              </a:spcBef>
              <a:spcAft>
                <a:spcPts val="0"/>
              </a:spcAft>
              <a:buClr>
                <a:srgbClr val="7F7F7F"/>
              </a:buClr>
              <a:buSzPts val="1200"/>
              <a:buNone/>
              <a:defRPr sz="1200"/>
            </a:lvl2pPr>
            <a:lvl3pPr indent="-228600" lvl="2" marL="1371600" algn="l">
              <a:spcBef>
                <a:spcPts val="200"/>
              </a:spcBef>
              <a:spcAft>
                <a:spcPts val="0"/>
              </a:spcAft>
              <a:buClr>
                <a:srgbClr val="7F7F7F"/>
              </a:buClr>
              <a:buSzPts val="1000"/>
              <a:buNone/>
              <a:defRPr sz="1000"/>
            </a:lvl3pPr>
            <a:lvl4pPr indent="-228600" lvl="3" marL="1828800" algn="l">
              <a:spcBef>
                <a:spcPts val="180"/>
              </a:spcBef>
              <a:spcAft>
                <a:spcPts val="0"/>
              </a:spcAft>
              <a:buClr>
                <a:srgbClr val="7F7F7F"/>
              </a:buClr>
              <a:buSzPts val="900"/>
              <a:buNone/>
              <a:defRPr sz="900"/>
            </a:lvl4pPr>
            <a:lvl5pPr indent="-228600" lvl="4" marL="2286000" algn="l">
              <a:spcBef>
                <a:spcPts val="180"/>
              </a:spcBef>
              <a:spcAft>
                <a:spcPts val="0"/>
              </a:spcAft>
              <a:buClr>
                <a:srgbClr val="7F7F7F"/>
              </a:buClr>
              <a:buSzPts val="900"/>
              <a:buNone/>
              <a:defRPr sz="900"/>
            </a:lvl5pPr>
            <a:lvl6pPr indent="-228600" lvl="5" marL="2743200" algn="l">
              <a:spcBef>
                <a:spcPts val="180"/>
              </a:spcBef>
              <a:spcAft>
                <a:spcPts val="0"/>
              </a:spcAft>
              <a:buClr>
                <a:srgbClr val="7F7F7F"/>
              </a:buClr>
              <a:buSzPts val="900"/>
              <a:buNone/>
              <a:defRPr sz="900"/>
            </a:lvl6pPr>
            <a:lvl7pPr indent="-228600" lvl="6" marL="3200400" algn="l">
              <a:spcBef>
                <a:spcPts val="180"/>
              </a:spcBef>
              <a:spcAft>
                <a:spcPts val="0"/>
              </a:spcAft>
              <a:buClr>
                <a:srgbClr val="7F7F7F"/>
              </a:buClr>
              <a:buSzPts val="900"/>
              <a:buNone/>
              <a:defRPr sz="900"/>
            </a:lvl7pPr>
            <a:lvl8pPr indent="-228600" lvl="7" marL="3657600" algn="l">
              <a:spcBef>
                <a:spcPts val="180"/>
              </a:spcBef>
              <a:spcAft>
                <a:spcPts val="0"/>
              </a:spcAft>
              <a:buClr>
                <a:srgbClr val="7F7F7F"/>
              </a:buClr>
              <a:buSzPts val="900"/>
              <a:buNone/>
              <a:defRPr sz="900"/>
            </a:lvl8pPr>
            <a:lvl9pPr indent="-228600" lvl="8" marL="4114800" algn="l">
              <a:spcBef>
                <a:spcPts val="180"/>
              </a:spcBef>
              <a:spcAft>
                <a:spcPts val="0"/>
              </a:spcAft>
              <a:buClr>
                <a:srgbClr val="7F7F7F"/>
              </a:buClr>
              <a:buSzPts val="900"/>
              <a:buNone/>
              <a:defRPr sz="900"/>
            </a:lvl9pPr>
          </a:lstStyle>
          <a:p/>
        </p:txBody>
      </p:sp>
      <p:sp>
        <p:nvSpPr>
          <p:cNvPr id="70" name="Google Shape;70;p44"/>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4"/>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4"/>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45"/>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
        <p:nvSpPr>
          <p:cNvPr id="76" name="Google Shape;76;p45"/>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5"/>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5"/>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46"/>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4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7F7F7F"/>
              </a:buClr>
              <a:buSzPts val="1800"/>
              <a:buChar char="•"/>
              <a:defRPr/>
            </a:lvl1pPr>
            <a:lvl2pPr indent="-342900" lvl="1" marL="914400" algn="l">
              <a:spcBef>
                <a:spcPts val="360"/>
              </a:spcBef>
              <a:spcAft>
                <a:spcPts val="0"/>
              </a:spcAft>
              <a:buClr>
                <a:srgbClr val="7F7F7F"/>
              </a:buClr>
              <a:buSzPts val="1800"/>
              <a:buChar char="o"/>
              <a:defRPr/>
            </a:lvl2pPr>
            <a:lvl3pPr indent="-342900" lvl="2" marL="1371600" algn="l">
              <a:spcBef>
                <a:spcPts val="360"/>
              </a:spcBef>
              <a:spcAft>
                <a:spcPts val="0"/>
              </a:spcAft>
              <a:buClr>
                <a:srgbClr val="7F7F7F"/>
              </a:buClr>
              <a:buSzPts val="1800"/>
              <a:buChar char="•"/>
              <a:defRPr/>
            </a:lvl3pPr>
            <a:lvl4pPr indent="-342900" lvl="3" marL="1828800" algn="l">
              <a:spcBef>
                <a:spcPts val="360"/>
              </a:spcBef>
              <a:spcAft>
                <a:spcPts val="0"/>
              </a:spcAft>
              <a:buClr>
                <a:srgbClr val="7F7F7F"/>
              </a:buClr>
              <a:buSzPts val="1800"/>
              <a:buChar char="o"/>
              <a:defRPr/>
            </a:lvl4pPr>
            <a:lvl5pPr indent="-342900" lvl="4" marL="2286000" algn="l">
              <a:spcBef>
                <a:spcPts val="360"/>
              </a:spcBef>
              <a:spcAft>
                <a:spcPts val="0"/>
              </a:spcAft>
              <a:buClr>
                <a:srgbClr val="7F7F7F"/>
              </a:buClr>
              <a:buSzPts val="1800"/>
              <a:buChar char="•"/>
              <a:defRPr/>
            </a:lvl5pPr>
            <a:lvl6pPr indent="-342900" lvl="5" marL="2743200" algn="l">
              <a:spcBef>
                <a:spcPts val="360"/>
              </a:spcBef>
              <a:spcAft>
                <a:spcPts val="0"/>
              </a:spcAft>
              <a:buClr>
                <a:srgbClr val="7F7F7F"/>
              </a:buClr>
              <a:buSzPts val="1800"/>
              <a:buChar char="o"/>
              <a:defRPr/>
            </a:lvl6pPr>
            <a:lvl7pPr indent="-342900" lvl="6" marL="3200400" algn="l">
              <a:spcBef>
                <a:spcPts val="360"/>
              </a:spcBef>
              <a:spcAft>
                <a:spcPts val="0"/>
              </a:spcAft>
              <a:buClr>
                <a:srgbClr val="7F7F7F"/>
              </a:buClr>
              <a:buSzPts val="1800"/>
              <a:buChar char="•"/>
              <a:defRPr/>
            </a:lvl7pPr>
            <a:lvl8pPr indent="-342900" lvl="7" marL="3657600" algn="l">
              <a:spcBef>
                <a:spcPts val="360"/>
              </a:spcBef>
              <a:spcAft>
                <a:spcPts val="0"/>
              </a:spcAft>
              <a:buClr>
                <a:srgbClr val="7F7F7F"/>
              </a:buClr>
              <a:buSzPts val="1800"/>
              <a:buChar char="o"/>
              <a:defRPr/>
            </a:lvl8pPr>
            <a:lvl9pPr indent="-342900" lvl="8" marL="4114800" algn="l">
              <a:spcBef>
                <a:spcPts val="360"/>
              </a:spcBef>
              <a:spcAft>
                <a:spcPts val="0"/>
              </a:spcAft>
              <a:buClr>
                <a:srgbClr val="7F7F7F"/>
              </a:buClr>
              <a:buSzPts val="1800"/>
              <a:buChar char="•"/>
              <a:defRPr/>
            </a:lvl9pPr>
          </a:lstStyle>
          <a:p/>
        </p:txBody>
      </p:sp>
      <p:sp>
        <p:nvSpPr>
          <p:cNvPr id="82" name="Google Shape;82;p46"/>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6"/>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6"/>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0000">
              <a:schemeClr val="lt1"/>
            </a:gs>
            <a:gs pos="76000">
              <a:srgbClr val="F3F3F3"/>
            </a:gs>
            <a:gs pos="92000">
              <a:srgbClr val="D8D8D8"/>
            </a:gs>
            <a:gs pos="100000">
              <a:srgbClr val="D8D8D8"/>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lvl1pPr lvl="0" marR="0" rtl="0" algn="ctr">
              <a:lnSpc>
                <a:spcPct val="107407"/>
              </a:lnSpc>
              <a:spcBef>
                <a:spcPts val="0"/>
              </a:spcBef>
              <a:spcAft>
                <a:spcPts val="0"/>
              </a:spcAft>
              <a:buClr>
                <a:schemeClr val="dk2"/>
              </a:buClr>
              <a:buSzPts val="5400"/>
              <a:buFont typeface="Palatino Linotype"/>
              <a:buNone/>
              <a:defRPr b="0" i="0" sz="5400" u="none" cap="none" strike="noStrike">
                <a:solidFill>
                  <a:schemeClr val="dk2"/>
                </a:solidFill>
                <a:latin typeface="Palatino Linotype"/>
                <a:ea typeface="Palatino Linotype"/>
                <a:cs typeface="Palatino Linotype"/>
                <a:sym typeface="Palatino Linotyp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rgbClr val="7F7F7F"/>
              </a:buClr>
              <a:buSzPts val="2400"/>
              <a:buFont typeface="Arial"/>
              <a:buChar char="•"/>
              <a:defRPr b="0" i="0" sz="2400" u="none" cap="none" strike="noStrike">
                <a:solidFill>
                  <a:srgbClr val="7F7F7F"/>
                </a:solidFill>
                <a:latin typeface="Century Gothic"/>
                <a:ea typeface="Century Gothic"/>
                <a:cs typeface="Century Gothic"/>
                <a:sym typeface="Century Gothic"/>
              </a:defRPr>
            </a:lvl1pPr>
            <a:lvl2pPr indent="-330200" lvl="1" marL="9144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2pPr>
            <a:lvl3pPr indent="-330200" lvl="2" marL="13716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3pPr>
            <a:lvl4pPr indent="-330200" lvl="3" marL="18288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4pPr>
            <a:lvl5pPr indent="-330200" lvl="4" marL="22860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5pPr>
            <a:lvl6pPr indent="-330200" lvl="5" marL="27432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6pPr>
            <a:lvl7pPr indent="-330200" lvl="6" marL="32004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7pPr>
            <a:lvl8pPr indent="-330200" lvl="7" marL="3657600" marR="0" rtl="0" algn="l">
              <a:spcBef>
                <a:spcPts val="320"/>
              </a:spcBef>
              <a:spcAft>
                <a:spcPts val="0"/>
              </a:spcAft>
              <a:buClr>
                <a:srgbClr val="7F7F7F"/>
              </a:buClr>
              <a:buSzPts val="1600"/>
              <a:buFont typeface="Courier New"/>
              <a:buChar char="o"/>
              <a:defRPr b="0" i="0" sz="1600" u="none" cap="none" strike="noStrike">
                <a:solidFill>
                  <a:srgbClr val="7F7F7F"/>
                </a:solidFill>
                <a:latin typeface="Century Gothic"/>
                <a:ea typeface="Century Gothic"/>
                <a:cs typeface="Century Gothic"/>
                <a:sym typeface="Century Gothic"/>
              </a:defRPr>
            </a:lvl8pPr>
            <a:lvl9pPr indent="-330200" lvl="8" marL="4114800" marR="0" rtl="0" algn="l">
              <a:spcBef>
                <a:spcPts val="320"/>
              </a:spcBef>
              <a:spcAft>
                <a:spcPts val="0"/>
              </a:spcAft>
              <a:buClr>
                <a:srgbClr val="7F7F7F"/>
              </a:buClr>
              <a:buSzPts val="1600"/>
              <a:buFont typeface="Arial"/>
              <a:buChar char="•"/>
              <a:defRPr b="0" i="0" sz="1600" u="none" cap="none" strike="noStrike">
                <a:solidFill>
                  <a:srgbClr val="7F7F7F"/>
                </a:solidFill>
                <a:latin typeface="Century Gothic"/>
                <a:ea typeface="Century Gothic"/>
                <a:cs typeface="Century Gothic"/>
                <a:sym typeface="Century Gothic"/>
              </a:defRPr>
            </a:lvl9pPr>
          </a:lstStyle>
          <a:p/>
        </p:txBody>
      </p:sp>
      <p:sp>
        <p:nvSpPr>
          <p:cNvPr id="8" name="Google Shape;8;p35"/>
          <p:cNvSpPr txBox="1"/>
          <p:nvPr>
            <p:ph idx="10" type="dt"/>
          </p:nvPr>
        </p:nvSpPr>
        <p:spPr>
          <a:xfrm>
            <a:off x="6363347" y="6356350"/>
            <a:ext cx="2085975" cy="365125"/>
          </a:xfrm>
          <a:prstGeom prst="rect">
            <a:avLst/>
          </a:prstGeom>
          <a:noFill/>
          <a:ln>
            <a:noFill/>
          </a:ln>
        </p:spPr>
        <p:txBody>
          <a:bodyPr anchorCtr="0" anchor="ctr" bIns="45700" lIns="91425" spcFirstLastPara="1" rIns="45700" wrap="square" tIns="45700">
            <a:noAutofit/>
          </a:bodyPr>
          <a:lstStyle>
            <a:lvl1pPr lvl="0" marR="0" rtl="0" algn="r">
              <a:spcBef>
                <a:spcPts val="0"/>
              </a:spcBef>
              <a:spcAft>
                <a:spcPts val="0"/>
              </a:spcAft>
              <a:buSzPts val="1400"/>
              <a:buNone/>
              <a:defRPr b="0" i="0" sz="1200" u="none" cap="none" strike="noStrike">
                <a:solidFill>
                  <a:srgbClr val="595959"/>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lvl="2"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lvl="3"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lvl="4"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lvl="5"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lvl="6"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lvl="7"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lvl="8"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9" name="Google Shape;9;p35"/>
          <p:cNvSpPr txBox="1"/>
          <p:nvPr>
            <p:ph idx="11" type="ftr"/>
          </p:nvPr>
        </p:nvSpPr>
        <p:spPr>
          <a:xfrm>
            <a:off x="659165" y="6356350"/>
            <a:ext cx="2847975" cy="365125"/>
          </a:xfrm>
          <a:prstGeom prst="rect">
            <a:avLst/>
          </a:prstGeom>
          <a:noFill/>
          <a:ln>
            <a:noFill/>
          </a:ln>
        </p:spPr>
        <p:txBody>
          <a:bodyPr anchorCtr="0" anchor="ctr" bIns="45700" lIns="45700" spcFirstLastPara="1" rIns="91425" wrap="square" tIns="45700">
            <a:noAutofit/>
          </a:bodyPr>
          <a:lstStyle>
            <a:lvl1pPr lvl="0" marR="0" rtl="0" algn="l">
              <a:spcBef>
                <a:spcPts val="0"/>
              </a:spcBef>
              <a:spcAft>
                <a:spcPts val="0"/>
              </a:spcAft>
              <a:buSzPts val="1400"/>
              <a:buNone/>
              <a:defRPr b="0" i="0" sz="1200" u="none" cap="none" strike="noStrike">
                <a:solidFill>
                  <a:srgbClr val="595959"/>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lvl="2"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lvl="3"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lvl="4"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lvl="5"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lvl="6"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lvl="7"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lvl="8"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10" name="Google Shape;10;p35"/>
          <p:cNvSpPr txBox="1"/>
          <p:nvPr>
            <p:ph idx="12" type="sldNum"/>
          </p:nvPr>
        </p:nvSpPr>
        <p:spPr>
          <a:xfrm>
            <a:off x="8543278" y="6356350"/>
            <a:ext cx="561975" cy="365125"/>
          </a:xfrm>
          <a:prstGeom prst="rect">
            <a:avLst/>
          </a:prstGeom>
          <a:noFill/>
          <a:ln>
            <a:noFill/>
          </a:ln>
        </p:spPr>
        <p:txBody>
          <a:bodyPr anchorCtr="0" anchor="ctr" bIns="45700" lIns="27425" spcFirstLastPara="1" rIns="45700" wrap="square" tIns="45700">
            <a:noAutofit/>
          </a:bodyPr>
          <a:lstStyle>
            <a:lvl1pPr indent="0" lvl="0" marL="0" marR="0" rtl="0" algn="l">
              <a:spcBef>
                <a:spcPts val="0"/>
              </a:spcBef>
              <a:buNone/>
              <a:defRPr b="0" i="0" sz="1200" u="none" cap="none" strike="noStrike">
                <a:solidFill>
                  <a:srgbClr val="595959"/>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595959"/>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595959"/>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595959"/>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595959"/>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595959"/>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595959"/>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595959"/>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595959"/>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
        <p:nvSpPr>
          <p:cNvPr id="11" name="Google Shape;11;p35"/>
          <p:cNvSpPr/>
          <p:nvPr/>
        </p:nvSpPr>
        <p:spPr>
          <a:xfrm>
            <a:off x="8457760" y="6499384"/>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
        <p:nvSpPr>
          <p:cNvPr id="12" name="Google Shape;12;p35"/>
          <p:cNvSpPr/>
          <p:nvPr/>
        </p:nvSpPr>
        <p:spPr>
          <a:xfrm>
            <a:off x="569119" y="6499384"/>
            <a:ext cx="84772" cy="84772"/>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alatino Linotype"/>
              <a:ea typeface="Palatino Linotype"/>
              <a:cs typeface="Palatino Linotype"/>
              <a:sym typeface="Palatino Linotype"/>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mailto:c.devereux@herts.ac.u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mailto:w.bate@herts.ac.uk"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0" y="381001"/>
            <a:ext cx="9144000" cy="4038599"/>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9600"/>
              <a:buFont typeface="Palatino Linotype"/>
              <a:buNone/>
            </a:pPr>
            <a:r>
              <a:rPr b="1" lang="en-US" sz="9600">
                <a:solidFill>
                  <a:srgbClr val="002060"/>
                </a:solidFill>
                <a:latin typeface="Palatino Linotype"/>
                <a:ea typeface="Palatino Linotype"/>
                <a:cs typeface="Palatino Linotype"/>
                <a:sym typeface="Palatino Linotype"/>
              </a:rPr>
              <a:t>Well Come To My Project</a:t>
            </a:r>
            <a:endParaRPr b="1" sz="9600">
              <a:solidFill>
                <a:srgbClr val="002060"/>
              </a:solidFill>
              <a:latin typeface="Palatino Linotype"/>
              <a:ea typeface="Palatino Linotype"/>
              <a:cs typeface="Palatino Linotype"/>
              <a:sym typeface="Palatino Linotype"/>
            </a:endParaRPr>
          </a:p>
        </p:txBody>
      </p:sp>
      <p:sp>
        <p:nvSpPr>
          <p:cNvPr id="90" name="Google Shape;90;p1"/>
          <p:cNvSpPr/>
          <p:nvPr/>
        </p:nvSpPr>
        <p:spPr>
          <a:xfrm>
            <a:off x="5867400" y="4724400"/>
            <a:ext cx="3170208" cy="1905000"/>
          </a:xfrm>
          <a:prstGeom prst="rect">
            <a:avLst/>
          </a:prstGeom>
          <a:blipFill rotWithShape="1">
            <a:blip r:embed="rId3">
              <a:alphaModFix/>
            </a:blip>
            <a:stretch>
              <a:fillRect b="0" l="0" r="0" t="0"/>
            </a:stretch>
          </a:blipFill>
          <a:ln cap="flat" cmpd="sng" w="285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p14:dur="250">
        <p:push/>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idx="1" type="body"/>
          </p:nvPr>
        </p:nvSpPr>
        <p:spPr>
          <a:xfrm>
            <a:off x="76200" y="76200"/>
            <a:ext cx="9057736" cy="6705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5400"/>
              <a:buNone/>
            </a:pPr>
            <a:r>
              <a:rPr b="1" lang="en-US" sz="5400">
                <a:solidFill>
                  <a:srgbClr val="002060"/>
                </a:solidFill>
              </a:rPr>
              <a:t>My Project Name Is -Covid-19: Comparative Data Analysis And Prediction For The World And Bangladesh.</a:t>
            </a:r>
            <a:endParaRPr b="1" sz="5400">
              <a:solidFill>
                <a:srgbClr val="002060"/>
              </a:solidFill>
            </a:endParaRPr>
          </a:p>
          <a:p>
            <a:pPr indent="0" lvl="0" marL="0" rtl="0" algn="l">
              <a:spcBef>
                <a:spcPts val="800"/>
              </a:spcBef>
              <a:spcAft>
                <a:spcPts val="0"/>
              </a:spcAft>
              <a:buClr>
                <a:srgbClr val="7F7F7F"/>
              </a:buClr>
              <a:buSzPts val="4000"/>
              <a:buNone/>
            </a:pPr>
            <a:r>
              <a:t/>
            </a:r>
            <a:endParaRPr sz="4000">
              <a:solidFill>
                <a:srgbClr val="002060"/>
              </a:solidFill>
            </a:endParaRPr>
          </a:p>
        </p:txBody>
      </p:sp>
      <p:pic>
        <p:nvPicPr>
          <p:cNvPr id="96" name="Google Shape;96;p2"/>
          <p:cNvPicPr preferRelativeResize="0"/>
          <p:nvPr/>
        </p:nvPicPr>
        <p:blipFill rotWithShape="1">
          <a:blip r:embed="rId3">
            <a:alphaModFix/>
          </a:blip>
          <a:srcRect b="0" l="0" r="0" t="0"/>
          <a:stretch/>
        </p:blipFill>
        <p:spPr>
          <a:xfrm>
            <a:off x="6942826" y="4779753"/>
            <a:ext cx="2199736" cy="2057400"/>
          </a:xfrm>
          <a:prstGeom prst="rect">
            <a:avLst/>
          </a:prstGeom>
          <a:noFill/>
          <a:ln>
            <a:noFill/>
          </a:ln>
        </p:spPr>
      </p:pic>
    </p:spTree>
  </p:cSld>
  <p:clrMapOvr>
    <a:masterClrMapping/>
  </p:clrMapOvr>
  <mc:AlternateContent>
    <mc:Choice Requires="p14">
      <p:transition p14:dur="250">
        <p14:doors dir="ver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idx="1" type="body"/>
          </p:nvPr>
        </p:nvSpPr>
        <p:spPr>
          <a:xfrm>
            <a:off x="457200" y="762001"/>
            <a:ext cx="8153400" cy="39623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400"/>
              <a:buChar char="•"/>
            </a:pPr>
            <a:r>
              <a:rPr b="1" lang="en-US">
                <a:solidFill>
                  <a:srgbClr val="002060"/>
                </a:solidFill>
              </a:rPr>
              <a:t>MY Named-Farid hossain</a:t>
            </a:r>
            <a:endParaRPr b="1">
              <a:solidFill>
                <a:srgbClr val="002060"/>
              </a:solidFill>
            </a:endParaRPr>
          </a:p>
          <a:p>
            <a:pPr indent="-342900" lvl="0" marL="342900" rtl="0" algn="l">
              <a:spcBef>
                <a:spcPts val="480"/>
              </a:spcBef>
              <a:spcAft>
                <a:spcPts val="0"/>
              </a:spcAft>
              <a:buClr>
                <a:srgbClr val="002060"/>
              </a:buClr>
              <a:buSzPts val="2400"/>
              <a:buChar char="•"/>
            </a:pPr>
            <a:r>
              <a:rPr b="1" lang="en-US">
                <a:solidFill>
                  <a:srgbClr val="002060"/>
                </a:solidFill>
              </a:rPr>
              <a:t>My student id -  23006446 </a:t>
            </a:r>
            <a:endParaRPr/>
          </a:p>
          <a:p>
            <a:pPr indent="-342900" lvl="0" marL="342900" rtl="0" algn="l">
              <a:spcBef>
                <a:spcPts val="480"/>
              </a:spcBef>
              <a:spcAft>
                <a:spcPts val="0"/>
              </a:spcAft>
              <a:buClr>
                <a:srgbClr val="002060"/>
              </a:buClr>
              <a:buSzPts val="2400"/>
              <a:buChar char="•"/>
            </a:pPr>
            <a:r>
              <a:rPr b="1" lang="en-US">
                <a:solidFill>
                  <a:srgbClr val="002060"/>
                </a:solidFill>
              </a:rPr>
              <a:t>Institution-University of Hertfordshire</a:t>
            </a:r>
            <a:endParaRPr/>
          </a:p>
          <a:p>
            <a:pPr indent="0" lvl="0" marL="0" rtl="0" algn="l">
              <a:spcBef>
                <a:spcPts val="480"/>
              </a:spcBef>
              <a:spcAft>
                <a:spcPts val="0"/>
              </a:spcAft>
              <a:buClr>
                <a:srgbClr val="002060"/>
              </a:buClr>
              <a:buSzPts val="2400"/>
              <a:buNone/>
            </a:pPr>
            <a:r>
              <a:rPr b="1" lang="en-US">
                <a:solidFill>
                  <a:srgbClr val="002060"/>
                </a:solidFill>
              </a:rPr>
              <a:t>   College Lane, Hatfield, Herts AL10 9AB,United  Kingdom</a:t>
            </a:r>
            <a:endParaRPr b="1">
              <a:solidFill>
                <a:srgbClr val="002060"/>
              </a:solidFill>
            </a:endParaRPr>
          </a:p>
          <a:p>
            <a:pPr indent="0" lvl="0" marL="0" rtl="0" algn="l">
              <a:spcBef>
                <a:spcPts val="480"/>
              </a:spcBef>
              <a:spcAft>
                <a:spcPts val="0"/>
              </a:spcAft>
              <a:buClr>
                <a:srgbClr val="002060"/>
              </a:buClr>
              <a:buSzPts val="2400"/>
              <a:buNone/>
            </a:pPr>
            <a:r>
              <a:rPr b="1" lang="en-US">
                <a:solidFill>
                  <a:srgbClr val="002060"/>
                </a:solidFill>
              </a:rPr>
              <a:t>                                                                                  </a:t>
            </a:r>
            <a:endParaRPr b="1">
              <a:solidFill>
                <a:srgbClr val="002060"/>
              </a:solidFill>
            </a:endParaRPr>
          </a:p>
          <a:p>
            <a:pPr indent="-342900" lvl="0" marL="342900" rtl="0" algn="l">
              <a:spcBef>
                <a:spcPts val="480"/>
              </a:spcBef>
              <a:spcAft>
                <a:spcPts val="0"/>
              </a:spcAft>
              <a:buClr>
                <a:srgbClr val="002060"/>
              </a:buClr>
              <a:buSzPts val="2400"/>
              <a:buChar char="•"/>
            </a:pPr>
            <a:r>
              <a:rPr b="1" lang="en-US">
                <a:solidFill>
                  <a:srgbClr val="002060"/>
                </a:solidFill>
              </a:rPr>
              <a:t>Date-10-02-2025      </a:t>
            </a:r>
            <a:endParaRPr b="1">
              <a:solidFill>
                <a:srgbClr val="002060"/>
              </a:solidFill>
            </a:endParaRPr>
          </a:p>
          <a:p>
            <a:pPr indent="-190500" lvl="0" marL="342900" rtl="0" algn="l">
              <a:spcBef>
                <a:spcPts val="480"/>
              </a:spcBef>
              <a:spcAft>
                <a:spcPts val="0"/>
              </a:spcAft>
              <a:buClr>
                <a:srgbClr val="7F7F7F"/>
              </a:buClr>
              <a:buSzPts val="2400"/>
              <a:buNone/>
            </a:pPr>
            <a:r>
              <a:t/>
            </a:r>
            <a:endParaRPr/>
          </a:p>
        </p:txBody>
      </p:sp>
      <p:pic>
        <p:nvPicPr>
          <p:cNvPr id="102" name="Google Shape;102;p3"/>
          <p:cNvPicPr preferRelativeResize="0"/>
          <p:nvPr/>
        </p:nvPicPr>
        <p:blipFill rotWithShape="1">
          <a:blip r:embed="rId3">
            <a:alphaModFix/>
          </a:blip>
          <a:srcRect b="0" l="0" r="0" t="0"/>
          <a:stretch/>
        </p:blipFill>
        <p:spPr>
          <a:xfrm>
            <a:off x="6705600" y="3382274"/>
            <a:ext cx="2286000" cy="1905000"/>
          </a:xfrm>
          <a:prstGeom prst="rect">
            <a:avLst/>
          </a:prstGeom>
          <a:noFill/>
          <a:ln>
            <a:noFill/>
          </a:ln>
        </p:spPr>
      </p:pic>
      <p:sp>
        <p:nvSpPr>
          <p:cNvPr id="103" name="Google Shape;103;p3"/>
          <p:cNvSpPr/>
          <p:nvPr/>
        </p:nvSpPr>
        <p:spPr>
          <a:xfrm>
            <a:off x="76200" y="5334000"/>
            <a:ext cx="8839200" cy="15240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00B050"/>
                </a:solidFill>
                <a:latin typeface="Palatino Linotype"/>
                <a:ea typeface="Palatino Linotype"/>
                <a:cs typeface="Palatino Linotype"/>
                <a:sym typeface="Palatino Linotype"/>
              </a:rPr>
              <a:t>My project github link: https://github.com/Fariduk/PROJECT-DATA-SCIENCE-COVID-19-Comparative-Data-Analysis-and-Prediction-for-the-World-and-Bangladesh.git</a:t>
            </a:r>
            <a:endParaRPr sz="2000">
              <a:solidFill>
                <a:srgbClr val="00B050"/>
              </a:solidFill>
              <a:latin typeface="Palatino Linotype"/>
              <a:ea typeface="Palatino Linotype"/>
              <a:cs typeface="Palatino Linotype"/>
              <a:sym typeface="Palatino Linotype"/>
            </a:endParaRPr>
          </a:p>
        </p:txBody>
      </p:sp>
    </p:spTree>
  </p:cSld>
  <p:clrMapOvr>
    <a:masterClrMapping/>
  </p:clrMapOvr>
  <p:transition p14:dur="250">
    <p:circl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Autofit/>
          </a:bodyPr>
          <a:lstStyle/>
          <a:p>
            <a:pPr indent="0" lvl="0" marL="0" rtl="0" algn="ctr">
              <a:lnSpc>
                <a:spcPct val="107407"/>
              </a:lnSpc>
              <a:spcBef>
                <a:spcPts val="0"/>
              </a:spcBef>
              <a:spcAft>
                <a:spcPts val="0"/>
              </a:spcAft>
              <a:buClr>
                <a:srgbClr val="002060"/>
              </a:buClr>
              <a:buSzPts val="5400"/>
              <a:buFont typeface="Palatino Linotype"/>
              <a:buNone/>
            </a:pPr>
            <a:r>
              <a:rPr b="1" lang="en-US">
                <a:solidFill>
                  <a:srgbClr val="002060"/>
                </a:solidFill>
                <a:latin typeface="Palatino Linotype"/>
                <a:ea typeface="Palatino Linotype"/>
                <a:cs typeface="Palatino Linotype"/>
                <a:sym typeface="Palatino Linotype"/>
              </a:rPr>
              <a:t>This Project Provide To </a:t>
            </a:r>
            <a:endParaRPr b="1">
              <a:solidFill>
                <a:srgbClr val="002060"/>
              </a:solidFill>
              <a:latin typeface="Palatino Linotype"/>
              <a:ea typeface="Palatino Linotype"/>
              <a:cs typeface="Palatino Linotype"/>
              <a:sym typeface="Palatino Linotype"/>
            </a:endParaRPr>
          </a:p>
        </p:txBody>
      </p:sp>
      <p:sp>
        <p:nvSpPr>
          <p:cNvPr id="109" name="Google Shape;109;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400"/>
              <a:buChar char="•"/>
            </a:pPr>
            <a:r>
              <a:rPr b="1" lang="en-US">
                <a:solidFill>
                  <a:srgbClr val="002060"/>
                </a:solidFill>
              </a:rPr>
              <a:t>MSc Data Science Project Module Leader</a:t>
            </a:r>
            <a:endParaRPr>
              <a:solidFill>
                <a:srgbClr val="002060"/>
              </a:solidFill>
            </a:endParaRPr>
          </a:p>
          <a:p>
            <a:pPr indent="-342900" lvl="0" marL="342900" rtl="0" algn="l">
              <a:spcBef>
                <a:spcPts val="480"/>
              </a:spcBef>
              <a:spcAft>
                <a:spcPts val="0"/>
              </a:spcAft>
              <a:buClr>
                <a:srgbClr val="002060"/>
              </a:buClr>
              <a:buSzPts val="2400"/>
              <a:buChar char="•"/>
            </a:pPr>
            <a:r>
              <a:rPr b="1" lang="en-US">
                <a:solidFill>
                  <a:srgbClr val="002060"/>
                </a:solidFill>
              </a:rPr>
              <a:t>Darshan Kakkad</a:t>
            </a:r>
            <a:endParaRPr>
              <a:solidFill>
                <a:srgbClr val="002060"/>
              </a:solidFill>
            </a:endParaRPr>
          </a:p>
          <a:p>
            <a:pPr indent="-342900" lvl="0" marL="342900" rtl="0" algn="l">
              <a:spcBef>
                <a:spcPts val="480"/>
              </a:spcBef>
              <a:spcAft>
                <a:spcPts val="0"/>
              </a:spcAft>
              <a:buClr>
                <a:srgbClr val="002060"/>
              </a:buClr>
              <a:buSzPts val="2400"/>
              <a:buChar char="•"/>
            </a:pPr>
            <a:r>
              <a:rPr b="1" lang="en-US" u="sng">
                <a:solidFill>
                  <a:srgbClr val="002060"/>
                </a:solidFill>
                <a:hlinkClick r:id="rId3">
                  <a:extLst>
                    <a:ext uri="{A12FA001-AC4F-418D-AE19-62706E023703}">
                      <ahyp:hlinkClr val="tx"/>
                    </a:ext>
                  </a:extLst>
                </a:hlinkClick>
              </a:rPr>
              <a:t>d.m.kakkad@herts.ac.uk</a:t>
            </a:r>
            <a:endParaRPr>
              <a:solidFill>
                <a:srgbClr val="002060"/>
              </a:solidFill>
            </a:endParaRPr>
          </a:p>
          <a:p>
            <a:pPr indent="-342900" lvl="0" marL="342900" rtl="0" algn="l">
              <a:spcBef>
                <a:spcPts val="480"/>
              </a:spcBef>
              <a:spcAft>
                <a:spcPts val="0"/>
              </a:spcAft>
              <a:buClr>
                <a:srgbClr val="002060"/>
              </a:buClr>
              <a:buSzPts val="2400"/>
              <a:buChar char="•"/>
            </a:pPr>
            <a:r>
              <a:rPr b="1" lang="en-US">
                <a:solidFill>
                  <a:srgbClr val="002060"/>
                </a:solidFill>
              </a:rPr>
              <a:t>University of Hertfordshire</a:t>
            </a:r>
            <a:endParaRPr>
              <a:solidFill>
                <a:srgbClr val="002060"/>
              </a:solidFill>
            </a:endParaRPr>
          </a:p>
          <a:p>
            <a:pPr indent="0" lvl="0" marL="0" rtl="0" algn="l">
              <a:spcBef>
                <a:spcPts val="480"/>
              </a:spcBef>
              <a:spcAft>
                <a:spcPts val="0"/>
              </a:spcAft>
              <a:buClr>
                <a:srgbClr val="002060"/>
              </a:buClr>
              <a:buSzPts val="2400"/>
              <a:buNone/>
            </a:pPr>
            <a:r>
              <a:rPr b="1" lang="en-US">
                <a:solidFill>
                  <a:srgbClr val="002060"/>
                </a:solidFill>
              </a:rPr>
              <a:t>   College Lane, Hatfield, </a:t>
            </a:r>
            <a:endParaRPr>
              <a:solidFill>
                <a:srgbClr val="002060"/>
              </a:solidFill>
            </a:endParaRPr>
          </a:p>
          <a:p>
            <a:pPr indent="0" lvl="0" marL="0" rtl="0" algn="l">
              <a:spcBef>
                <a:spcPts val="480"/>
              </a:spcBef>
              <a:spcAft>
                <a:spcPts val="0"/>
              </a:spcAft>
              <a:buClr>
                <a:srgbClr val="002060"/>
              </a:buClr>
              <a:buSzPts val="2400"/>
              <a:buNone/>
            </a:pPr>
            <a:r>
              <a:rPr b="1" lang="en-US">
                <a:solidFill>
                  <a:srgbClr val="002060"/>
                </a:solidFill>
              </a:rPr>
              <a:t>  Herts AL10 9AB, United Kingdom</a:t>
            </a:r>
            <a:endParaRPr>
              <a:solidFill>
                <a:srgbClr val="002060"/>
              </a:solidFill>
            </a:endParaRPr>
          </a:p>
          <a:p>
            <a:pPr indent="-190500" lvl="0" marL="342900" rtl="0" algn="l">
              <a:spcBef>
                <a:spcPts val="480"/>
              </a:spcBef>
              <a:spcAft>
                <a:spcPts val="0"/>
              </a:spcAft>
              <a:buClr>
                <a:srgbClr val="7F7F7F"/>
              </a:buClr>
              <a:buSzPts val="2400"/>
              <a:buNone/>
            </a:pPr>
            <a:r>
              <a:t/>
            </a:r>
            <a:endParaRPr>
              <a:solidFill>
                <a:srgbClr val="002060"/>
              </a:solidFill>
            </a:endParaRPr>
          </a:p>
        </p:txBody>
      </p:sp>
    </p:spTree>
  </p:cSld>
  <p:clrMapOvr>
    <a:masterClrMapping/>
  </p:clrMapOvr>
  <p:transition spd="slow" p14:dur="1600">
    <p:blinds dir="ver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idx="1" type="body"/>
          </p:nvPr>
        </p:nvSpPr>
        <p:spPr>
          <a:xfrm>
            <a:off x="457200" y="381000"/>
            <a:ext cx="8229600" cy="57451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4000"/>
              <a:buChar char="•"/>
            </a:pPr>
            <a:r>
              <a:rPr b="1" lang="en-US" sz="4000">
                <a:solidFill>
                  <a:srgbClr val="002060"/>
                </a:solidFill>
              </a:rPr>
              <a:t>My Project Supervisor Name Is - William Bate</a:t>
            </a:r>
            <a:endParaRPr/>
          </a:p>
          <a:p>
            <a:pPr indent="-342900" lvl="0" marL="342900" rtl="0" algn="l">
              <a:spcBef>
                <a:spcPts val="800"/>
              </a:spcBef>
              <a:spcAft>
                <a:spcPts val="0"/>
              </a:spcAft>
              <a:buClr>
                <a:srgbClr val="002060"/>
              </a:buClr>
              <a:buSzPts val="4000"/>
              <a:buChar char="•"/>
            </a:pPr>
            <a:r>
              <a:rPr b="1" lang="en-US" sz="4000">
                <a:solidFill>
                  <a:srgbClr val="002060"/>
                </a:solidFill>
              </a:rPr>
              <a:t> Email Address: w.bate@herts.ac.uk </a:t>
            </a:r>
            <a:endParaRPr b="1" sz="4000">
              <a:solidFill>
                <a:srgbClr val="002060"/>
              </a:solidFill>
            </a:endParaRPr>
          </a:p>
        </p:txBody>
      </p:sp>
    </p:spTree>
  </p:cSld>
  <p:clrMapOvr>
    <a:masterClrMapping/>
  </p:clrMapOvr>
  <mc:AlternateContent>
    <mc:Choice Requires="p14">
      <p:transition p14:dur="250">
        <p:fade thruBlk="1"/>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07407"/>
              </a:lnSpc>
              <a:spcBef>
                <a:spcPts val="0"/>
              </a:spcBef>
              <a:spcAft>
                <a:spcPts val="0"/>
              </a:spcAft>
              <a:buClr>
                <a:srgbClr val="002060"/>
              </a:buClr>
              <a:buSzPts val="4900"/>
              <a:buFont typeface="Palatino Linotype"/>
              <a:buNone/>
            </a:pPr>
            <a:r>
              <a:rPr b="1" lang="en-US" sz="4900">
                <a:solidFill>
                  <a:srgbClr val="002060"/>
                </a:solidFill>
                <a:latin typeface="Palatino Linotype"/>
                <a:ea typeface="Palatino Linotype"/>
                <a:cs typeface="Palatino Linotype"/>
                <a:sym typeface="Palatino Linotype"/>
              </a:rPr>
              <a:t>Introduction</a:t>
            </a:r>
            <a:br>
              <a:rPr b="1" lang="en-US"/>
            </a:br>
            <a:endParaRPr b="1"/>
          </a:p>
        </p:txBody>
      </p:sp>
      <p:sp>
        <p:nvSpPr>
          <p:cNvPr id="120" name="Google Shape;120;p6"/>
          <p:cNvSpPr txBox="1"/>
          <p:nvPr>
            <p:ph idx="1" type="body"/>
          </p:nvPr>
        </p:nvSpPr>
        <p:spPr>
          <a:xfrm>
            <a:off x="381000" y="914400"/>
            <a:ext cx="8610600" cy="5791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400"/>
              <a:buFont typeface="Noto Sans Symbols"/>
              <a:buChar char="▪"/>
            </a:pPr>
            <a:r>
              <a:rPr b="1" lang="en-US">
                <a:solidFill>
                  <a:srgbClr val="002060"/>
                </a:solidFill>
              </a:rPr>
              <a:t>What is COVID - 19?</a:t>
            </a:r>
            <a:endParaRPr b="1">
              <a:solidFill>
                <a:srgbClr val="002060"/>
              </a:solidFill>
            </a:endParaRPr>
          </a:p>
          <a:p>
            <a:pPr indent="0" lvl="0" marL="0" rtl="0" algn="l">
              <a:spcBef>
                <a:spcPts val="400"/>
              </a:spcBef>
              <a:spcAft>
                <a:spcPts val="0"/>
              </a:spcAft>
              <a:buClr>
                <a:srgbClr val="7F7F7F"/>
              </a:buClr>
              <a:buSzPts val="2000"/>
              <a:buNone/>
            </a:pPr>
            <a:r>
              <a:rPr b="1" lang="en-US" sz="2000"/>
              <a:t>Coronavirus disease 2019 (COVID-19) is a contagious respiratory and vascular disease caused by severe acute respiratory syndrome coronavirus 2 (SARS-CoV-2). The first case was identified in Wuhan, China in December 2019, though evidence suggests that the virus may have already been actively spreading months earlier in places such as Italy.</a:t>
            </a:r>
            <a:endParaRPr b="1" sz="2000"/>
          </a:p>
          <a:p>
            <a:pPr indent="0" lvl="0" marL="0" rtl="0" algn="l">
              <a:spcBef>
                <a:spcPts val="400"/>
              </a:spcBef>
              <a:spcAft>
                <a:spcPts val="0"/>
              </a:spcAft>
              <a:buClr>
                <a:srgbClr val="7F7F7F"/>
              </a:buClr>
              <a:buSzPts val="2000"/>
              <a:buNone/>
            </a:pPr>
            <a:r>
              <a:rPr b="1" lang="en-US" sz="2000"/>
              <a:t>Common symptoms of COVID-19 include fever, cough, fatigue, breathing difficulties, and loss of smell and taste.Symptoms begin one to fourteen days after exposure to the virus.While most people have mild symptoms, some people develop acute respiratory distress syndrome (ARDS). ARDS can be precipitated by cytokine storms,multi-organ failure, septic shock, and blood clots. Longer-term damage to organs (in particular, the lungs and heart) has been observed.</a:t>
            </a:r>
            <a:endParaRPr/>
          </a:p>
          <a:p>
            <a:pPr indent="0" lvl="0" marL="0" rtl="0" algn="l">
              <a:spcBef>
                <a:spcPts val="480"/>
              </a:spcBef>
              <a:spcAft>
                <a:spcPts val="0"/>
              </a:spcAft>
              <a:buClr>
                <a:srgbClr val="7F7F7F"/>
              </a:buClr>
              <a:buSzPts val="2400"/>
              <a:buNone/>
            </a:pPr>
            <a:r>
              <a:t/>
            </a:r>
            <a:endParaRPr/>
          </a:p>
          <a:p>
            <a:pPr indent="0" lvl="0" marL="0" rtl="0" algn="l">
              <a:spcBef>
                <a:spcPts val="480"/>
              </a:spcBef>
              <a:spcAft>
                <a:spcPts val="0"/>
              </a:spcAft>
              <a:buClr>
                <a:srgbClr val="7F7F7F"/>
              </a:buClr>
              <a:buSzPts val="2400"/>
              <a:buNone/>
            </a:pPr>
            <a:r>
              <a:t/>
            </a:r>
            <a:endParaRPr/>
          </a:p>
          <a:p>
            <a:pPr indent="0" lvl="0" marL="0" rtl="0" algn="l">
              <a:spcBef>
                <a:spcPts val="480"/>
              </a:spcBef>
              <a:spcAft>
                <a:spcPts val="0"/>
              </a:spcAft>
              <a:buClr>
                <a:srgbClr val="7F7F7F"/>
              </a:buClr>
              <a:buSzPts val="2400"/>
              <a:buNone/>
            </a:pPr>
            <a:r>
              <a:t/>
            </a:r>
            <a:endParaRPr/>
          </a:p>
          <a:p>
            <a:pPr indent="-190500" lvl="0" marL="342900" rtl="0" algn="l">
              <a:spcBef>
                <a:spcPts val="480"/>
              </a:spcBef>
              <a:spcAft>
                <a:spcPts val="0"/>
              </a:spcAft>
              <a:buClr>
                <a:srgbClr val="7F7F7F"/>
              </a:buClr>
              <a:buSzPts val="2400"/>
              <a:buNone/>
            </a:pPr>
            <a:r>
              <a:t/>
            </a:r>
            <a:endParaRPr/>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idx="1" type="body"/>
          </p:nvPr>
        </p:nvSpPr>
        <p:spPr>
          <a:xfrm>
            <a:off x="0" y="152400"/>
            <a:ext cx="9144000" cy="6705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400"/>
              <a:buFont typeface="Noto Sans Symbols"/>
              <a:buChar char="▪"/>
            </a:pPr>
            <a:r>
              <a:rPr b="1" lang="en-US">
                <a:solidFill>
                  <a:srgbClr val="002060"/>
                </a:solidFill>
              </a:rPr>
              <a:t>Brief overview of the Covid-19 pandemic</a:t>
            </a:r>
            <a:endParaRPr/>
          </a:p>
          <a:p>
            <a:pPr indent="0" lvl="0" marL="0" rtl="0" algn="l">
              <a:spcBef>
                <a:spcPts val="320"/>
              </a:spcBef>
              <a:spcAft>
                <a:spcPts val="0"/>
              </a:spcAft>
              <a:buClr>
                <a:srgbClr val="7F7F7F"/>
              </a:buClr>
              <a:buSzPts val="1600"/>
              <a:buNone/>
            </a:pPr>
            <a:r>
              <a:rPr b="1" lang="en-US" sz="1600"/>
              <a:t>The COVID-19 pandemic, caused by the SARS-CoV-2 virus, emerged in late 2019 in Wuhan, China. It rapidly spread worldwide, leading the World Health Organization (WHO) to declare it a global pandemic on March 11, 2020. The virus primarily spreads through respiratory droplets and can cause mild to severe respiratory illness, with symptoms ranging from fever and cough to severe pneumonia and organ failure.</a:t>
            </a:r>
            <a:endParaRPr/>
          </a:p>
          <a:p>
            <a:pPr indent="0" lvl="0" marL="0" rtl="0" algn="l">
              <a:spcBef>
                <a:spcPts val="320"/>
              </a:spcBef>
              <a:spcAft>
                <a:spcPts val="0"/>
              </a:spcAft>
              <a:buClr>
                <a:srgbClr val="7F7F7F"/>
              </a:buClr>
              <a:buSzPts val="1600"/>
              <a:buNone/>
            </a:pPr>
            <a:r>
              <a:rPr b="1" lang="en-US" sz="1600"/>
              <a:t>Governments worldwide implemented lockdowns, travel restrictions, and social distancing to curb transmission. The pandemic led to significant disruptions in healthcare, economies, and daily life. Scientists and pharmaceutical companies raced to develop vaccines, with the first ones, including Pfizer-BioNTech and Moderna, being rolled out in late 2020. Mass vaccination campaigns have since helped reduce severe cases and mortality rates.</a:t>
            </a:r>
            <a:endParaRPr/>
          </a:p>
          <a:p>
            <a:pPr indent="0" lvl="0" marL="0" rtl="0" algn="l">
              <a:spcBef>
                <a:spcPts val="320"/>
              </a:spcBef>
              <a:spcAft>
                <a:spcPts val="0"/>
              </a:spcAft>
              <a:buClr>
                <a:srgbClr val="7F7F7F"/>
              </a:buClr>
              <a:buSzPts val="1600"/>
              <a:buNone/>
            </a:pPr>
            <a:r>
              <a:rPr b="1" lang="en-US" sz="1600"/>
              <a:t>Despite global efforts, the pandemic exposed healthcare vulnerabilities and socioeconomic disparities. Variants like Delta and Omicron caused renewed waves of infections. As of today, while COVID-19 is largely under control in many regions, it remains a public health concern, emphasizing the need for ongoing surveillance, booster vaccinations, and preparedness for future pandemics.</a:t>
            </a:r>
            <a:endParaRPr b="1" sz="1600"/>
          </a:p>
          <a:p>
            <a:pPr indent="0" lvl="0" marL="0" rtl="0" algn="l">
              <a:spcBef>
                <a:spcPts val="480"/>
              </a:spcBef>
              <a:spcAft>
                <a:spcPts val="0"/>
              </a:spcAft>
              <a:buClr>
                <a:srgbClr val="7F7F7F"/>
              </a:buClr>
              <a:buSzPts val="2400"/>
              <a:buNone/>
            </a:pPr>
            <a:r>
              <a:rPr lang="en-US"/>
              <a:t> </a:t>
            </a:r>
            <a:endParaRPr/>
          </a:p>
        </p:txBody>
      </p:sp>
      <p:sp>
        <p:nvSpPr>
          <p:cNvPr id="126" name="Google Shape;126;p7"/>
          <p:cNvSpPr/>
          <p:nvPr/>
        </p:nvSpPr>
        <p:spPr>
          <a:xfrm>
            <a:off x="2209800" y="4495800"/>
            <a:ext cx="4114800" cy="2209800"/>
          </a:xfrm>
          <a:prstGeom prst="rect">
            <a:avLst/>
          </a:prstGeom>
          <a:blipFill rotWithShape="1">
            <a:blip r:embed="rId3">
              <a:alphaModFix/>
            </a:blip>
            <a:stretch>
              <a:fillRect b="0" l="0" r="0" t="0"/>
            </a:stretch>
          </a:blipFill>
          <a:ln cap="flat" cmpd="sng" w="2857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spd="slow" p14:dur="1500">
        <p14:window dir="ver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idx="1" type="body"/>
          </p:nvPr>
        </p:nvSpPr>
        <p:spPr>
          <a:xfrm>
            <a:off x="152400" y="152400"/>
            <a:ext cx="8534400" cy="5973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400"/>
              <a:buFont typeface="Noto Sans Symbols"/>
              <a:buChar char="▪"/>
            </a:pPr>
            <a:r>
              <a:rPr b="1" lang="en-US">
                <a:solidFill>
                  <a:srgbClr val="002060"/>
                </a:solidFill>
              </a:rPr>
              <a:t>Importance of data analysis and prediction</a:t>
            </a:r>
            <a:endParaRPr/>
          </a:p>
          <a:p>
            <a:pPr indent="0" lvl="0" marL="0" rtl="0" algn="l">
              <a:spcBef>
                <a:spcPts val="320"/>
              </a:spcBef>
              <a:spcAft>
                <a:spcPts val="0"/>
              </a:spcAft>
              <a:buClr>
                <a:srgbClr val="7F7F7F"/>
              </a:buClr>
              <a:buSzPts val="1600"/>
              <a:buNone/>
            </a:pPr>
            <a:r>
              <a:rPr b="1" lang="en-US" sz="1600"/>
              <a:t>Data analysis and prediction play a crucial role in understanding patterns, making informed decisions, and improving future outcomes across various domains, including healthcare, business, finance, and research.</a:t>
            </a:r>
            <a:endParaRPr/>
          </a:p>
          <a:p>
            <a:pPr indent="-342900" lvl="0" marL="342900" rtl="0" algn="l">
              <a:spcBef>
                <a:spcPts val="320"/>
              </a:spcBef>
              <a:spcAft>
                <a:spcPts val="0"/>
              </a:spcAft>
              <a:buClr>
                <a:srgbClr val="7F7F7F"/>
              </a:buClr>
              <a:buSzPts val="1600"/>
              <a:buFont typeface="Noto Sans Symbols"/>
              <a:buChar char="▪"/>
            </a:pPr>
            <a:r>
              <a:rPr b="1" lang="en-US" sz="1600"/>
              <a:t>Key Benefits:</a:t>
            </a:r>
            <a:endParaRPr/>
          </a:p>
          <a:p>
            <a:pPr indent="0" lvl="0" marL="0" rtl="0" algn="l">
              <a:spcBef>
                <a:spcPts val="320"/>
              </a:spcBef>
              <a:spcAft>
                <a:spcPts val="0"/>
              </a:spcAft>
              <a:buClr>
                <a:srgbClr val="7F7F7F"/>
              </a:buClr>
              <a:buSzPts val="1600"/>
              <a:buNone/>
            </a:pPr>
            <a:r>
              <a:t/>
            </a:r>
            <a:endParaRPr b="1" sz="1600"/>
          </a:p>
          <a:p>
            <a:pPr indent="-342900" lvl="0" marL="342900" rtl="0" algn="l">
              <a:spcBef>
                <a:spcPts val="320"/>
              </a:spcBef>
              <a:spcAft>
                <a:spcPts val="0"/>
              </a:spcAft>
              <a:buClr>
                <a:srgbClr val="7F7F7F"/>
              </a:buClr>
              <a:buSzPts val="1600"/>
              <a:buChar char="•"/>
            </a:pPr>
            <a:r>
              <a:rPr b="1" lang="en-US" sz="1600"/>
              <a:t> Informed Decision-Making: Helps organizations and governments make data-driven policies.</a:t>
            </a:r>
            <a:endParaRPr/>
          </a:p>
          <a:p>
            <a:pPr indent="-342900" lvl="0" marL="342900" rtl="0" algn="l">
              <a:spcBef>
                <a:spcPts val="320"/>
              </a:spcBef>
              <a:spcAft>
                <a:spcPts val="0"/>
              </a:spcAft>
              <a:buClr>
                <a:srgbClr val="7F7F7F"/>
              </a:buClr>
              <a:buSzPts val="1600"/>
              <a:buChar char="•"/>
            </a:pPr>
            <a:r>
              <a:rPr b="1" lang="en-US" sz="1600"/>
              <a:t>Trend Identification: Detects emerging patterns and behaviors for proactive action.</a:t>
            </a:r>
            <a:endParaRPr/>
          </a:p>
          <a:p>
            <a:pPr indent="-342900" lvl="0" marL="342900" rtl="0" algn="l">
              <a:spcBef>
                <a:spcPts val="320"/>
              </a:spcBef>
              <a:spcAft>
                <a:spcPts val="0"/>
              </a:spcAft>
              <a:buClr>
                <a:srgbClr val="7F7F7F"/>
              </a:buClr>
              <a:buSzPts val="1600"/>
              <a:buChar char="•"/>
            </a:pPr>
            <a:r>
              <a:rPr b="1" lang="en-US" sz="1600"/>
              <a:t> Risk Mitigation: Predictive models help anticipate risks and prevent crises.</a:t>
            </a:r>
            <a:endParaRPr/>
          </a:p>
          <a:p>
            <a:pPr indent="-342900" lvl="0" marL="342900" rtl="0" algn="l">
              <a:spcBef>
                <a:spcPts val="320"/>
              </a:spcBef>
              <a:spcAft>
                <a:spcPts val="0"/>
              </a:spcAft>
              <a:buClr>
                <a:srgbClr val="7F7F7F"/>
              </a:buClr>
              <a:buSzPts val="1600"/>
              <a:buChar char="•"/>
            </a:pPr>
            <a:r>
              <a:rPr b="1" lang="en-US" sz="1600"/>
              <a:t> Optimization &amp; Efficiency: Enhances resource allocation and operational effectiveness.</a:t>
            </a:r>
            <a:endParaRPr/>
          </a:p>
          <a:p>
            <a:pPr indent="-342900" lvl="0" marL="342900" rtl="0" algn="l">
              <a:spcBef>
                <a:spcPts val="320"/>
              </a:spcBef>
              <a:spcAft>
                <a:spcPts val="0"/>
              </a:spcAft>
              <a:buClr>
                <a:srgbClr val="7F7F7F"/>
              </a:buClr>
              <a:buSzPts val="1600"/>
              <a:buChar char="•"/>
            </a:pPr>
            <a:r>
              <a:rPr b="1" lang="en-US" sz="1600"/>
              <a:t> Scientific &amp; Medical Advancements: Supports disease forecasting, like COVID-19 spread predictions.</a:t>
            </a:r>
            <a:endParaRPr/>
          </a:p>
          <a:p>
            <a:pPr indent="0" lvl="0" marL="0" rtl="0" algn="l">
              <a:spcBef>
                <a:spcPts val="320"/>
              </a:spcBef>
              <a:spcAft>
                <a:spcPts val="0"/>
              </a:spcAft>
              <a:buClr>
                <a:srgbClr val="7F7F7F"/>
              </a:buClr>
              <a:buSzPts val="1600"/>
              <a:buNone/>
            </a:pPr>
            <a:r>
              <a:t/>
            </a:r>
            <a:endParaRPr b="1" sz="1600"/>
          </a:p>
        </p:txBody>
      </p:sp>
      <p:sp>
        <p:nvSpPr>
          <p:cNvPr id="132" name="Google Shape;132;p8"/>
          <p:cNvSpPr/>
          <p:nvPr/>
        </p:nvSpPr>
        <p:spPr>
          <a:xfrm>
            <a:off x="4953000" y="4419600"/>
            <a:ext cx="3200400" cy="2133600"/>
          </a:xfrm>
          <a:prstGeom prst="rect">
            <a:avLst/>
          </a:prstGeom>
          <a:blipFill rotWithShape="1">
            <a:blip r:embed="rId3">
              <a:alphaModFix/>
            </a:blip>
            <a:stretch>
              <a:fillRect b="0" l="0" r="0" t="0"/>
            </a:stretch>
          </a:blip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p14:warp dir="in"/>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457200" y="76200"/>
            <a:ext cx="8382000" cy="1295400"/>
          </a:xfrm>
          <a:prstGeom prst="rect">
            <a:avLst/>
          </a:prstGeom>
          <a:noFill/>
          <a:ln>
            <a:noFill/>
          </a:ln>
        </p:spPr>
        <p:txBody>
          <a:bodyPr anchorCtr="0" anchor="b" bIns="45700" lIns="91425" spcFirstLastPara="1" rIns="91425" wrap="square" tIns="45700">
            <a:noAutofit/>
          </a:bodyPr>
          <a:lstStyle/>
          <a:p>
            <a:pPr indent="0" lvl="0" marL="0" rtl="0" algn="ctr">
              <a:lnSpc>
                <a:spcPct val="181250"/>
              </a:lnSpc>
              <a:spcBef>
                <a:spcPts val="0"/>
              </a:spcBef>
              <a:spcAft>
                <a:spcPts val="0"/>
              </a:spcAft>
              <a:buClr>
                <a:srgbClr val="002060"/>
              </a:buClr>
              <a:buSzPts val="3200"/>
              <a:buFont typeface="Palatino Linotype"/>
              <a:buNone/>
            </a:pPr>
            <a:r>
              <a:rPr b="1" lang="en-US" sz="3200">
                <a:solidFill>
                  <a:srgbClr val="002060"/>
                </a:solidFill>
                <a:latin typeface="Palatino Linotype"/>
                <a:ea typeface="Palatino Linotype"/>
                <a:cs typeface="Palatino Linotype"/>
                <a:sym typeface="Palatino Linotype"/>
              </a:rPr>
              <a:t>Project objectives and scope-</a:t>
            </a:r>
            <a:br>
              <a:rPr lang="en-US" sz="3200">
                <a:latin typeface="Palatino Linotype"/>
                <a:ea typeface="Palatino Linotype"/>
                <a:cs typeface="Palatino Linotype"/>
                <a:sym typeface="Palatino Linotype"/>
              </a:rPr>
            </a:br>
            <a:endParaRPr sz="3200">
              <a:latin typeface="Palatino Linotype"/>
              <a:ea typeface="Palatino Linotype"/>
              <a:cs typeface="Palatino Linotype"/>
              <a:sym typeface="Palatino Linotype"/>
            </a:endParaRPr>
          </a:p>
        </p:txBody>
      </p:sp>
      <p:sp>
        <p:nvSpPr>
          <p:cNvPr id="138" name="Google Shape;138;p9"/>
          <p:cNvSpPr/>
          <p:nvPr/>
        </p:nvSpPr>
        <p:spPr>
          <a:xfrm>
            <a:off x="533400" y="990600"/>
            <a:ext cx="7620000" cy="16764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Linotype"/>
                <a:ea typeface="Palatino Linotype"/>
                <a:cs typeface="Palatino Linotype"/>
                <a:sym typeface="Palatino Linotype"/>
              </a:rPr>
              <a:t>1.Project Objectives</a:t>
            </a:r>
            <a:r>
              <a:rPr b="1" lang="en-US" sz="1600">
                <a:solidFill>
                  <a:schemeClr val="dk1"/>
                </a:solidFill>
                <a:latin typeface="Palatino Linotype"/>
                <a:ea typeface="Palatino Linotype"/>
                <a:cs typeface="Palatino Linotype"/>
                <a:sym typeface="Palatino Linotype"/>
              </a:rPr>
              <a:t>: This project aims to analyze and predict the trends of COVID-19 cases globally and in Bangladesh using advanced data science techniques.</a:t>
            </a:r>
            <a:endParaRPr b="1" sz="1600">
              <a:solidFill>
                <a:schemeClr val="dk1"/>
              </a:solidFill>
              <a:latin typeface="Palatino Linotype"/>
              <a:ea typeface="Palatino Linotype"/>
              <a:cs typeface="Palatino Linotype"/>
              <a:sym typeface="Palatino Linotype"/>
            </a:endParaRPr>
          </a:p>
        </p:txBody>
      </p:sp>
      <p:sp>
        <p:nvSpPr>
          <p:cNvPr id="139" name="Google Shape;139;p9"/>
          <p:cNvSpPr/>
          <p:nvPr/>
        </p:nvSpPr>
        <p:spPr>
          <a:xfrm>
            <a:off x="228600" y="2514600"/>
            <a:ext cx="8839200" cy="4175184"/>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140" name="Google Shape;140;p9"/>
          <p:cNvSpPr/>
          <p:nvPr/>
        </p:nvSpPr>
        <p:spPr>
          <a:xfrm>
            <a:off x="76200" y="2438400"/>
            <a:ext cx="8991600" cy="13716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Palatino Linotype"/>
                <a:ea typeface="Palatino Linotype"/>
                <a:cs typeface="Palatino Linotype"/>
                <a:sym typeface="Palatino Linotype"/>
              </a:rPr>
              <a:t>Affected Countries due to Covid-19</a:t>
            </a:r>
            <a:endParaRPr/>
          </a:p>
        </p:txBody>
      </p:sp>
      <p:sp>
        <p:nvSpPr>
          <p:cNvPr id="141" name="Google Shape;141;p9"/>
          <p:cNvSpPr/>
          <p:nvPr/>
        </p:nvSpPr>
        <p:spPr>
          <a:xfrm>
            <a:off x="381000" y="3657600"/>
            <a:ext cx="8686800" cy="29718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As per the data analysis, Covid-19 virus has spread out all over the world and affected 246 countries. Among the 246 countries the Top 5 countries those are affected vastly are, </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United States of America (20.3%) of the worlds statistics. Second worst condition is of India, holding the share of 16.27% and the third one is Brazil, holding the 10.78% share of the worlds total confirmed cases tally. After that France and Russia showing their share percentage of 3.52 and 3.51 respectively.Bangladesh is 1.29% .</a:t>
            </a:r>
            <a:endParaRPr b="1" sz="1600">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spd="med">
        <p14:honeycomb/>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0"/>
          <p:cNvPicPr preferRelativeResize="0"/>
          <p:nvPr>
            <p:ph idx="1" type="body"/>
          </p:nvPr>
        </p:nvPicPr>
        <p:blipFill rotWithShape="1">
          <a:blip r:embed="rId3">
            <a:alphaModFix/>
          </a:blip>
          <a:srcRect b="3081" l="3040" r="16485" t="18293"/>
          <a:stretch/>
        </p:blipFill>
        <p:spPr>
          <a:xfrm>
            <a:off x="232568" y="508958"/>
            <a:ext cx="8514618" cy="5815642"/>
          </a:xfrm>
          <a:prstGeom prst="rect">
            <a:avLst/>
          </a:prstGeom>
          <a:noFill/>
          <a:ln>
            <a:noFill/>
          </a:ln>
        </p:spPr>
      </p:pic>
    </p:spTree>
  </p:cSld>
  <p:clrMapOvr>
    <a:masterClrMapping/>
  </p:clrMapOvr>
  <mc:AlternateContent>
    <mc:Choice Requires="p14">
      <p:transition spd="med">
        <p14:reveal dir="l"/>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p:nvPr/>
        </p:nvSpPr>
        <p:spPr>
          <a:xfrm>
            <a:off x="609600" y="152400"/>
            <a:ext cx="8077200" cy="17526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200000"/>
              </a:lnSpc>
              <a:spcBef>
                <a:spcPts val="0"/>
              </a:spcBef>
              <a:spcAft>
                <a:spcPts val="0"/>
              </a:spcAft>
              <a:buNone/>
            </a:pPr>
            <a:r>
              <a:rPr b="1" lang="en-US" sz="2400">
                <a:solidFill>
                  <a:srgbClr val="002060"/>
                </a:solidFill>
                <a:latin typeface="Palatino Linotype"/>
                <a:ea typeface="Palatino Linotype"/>
                <a:cs typeface="Palatino Linotype"/>
                <a:sym typeface="Palatino Linotype"/>
              </a:rPr>
              <a:t>1.2 Comparative Data Analysis </a:t>
            </a:r>
            <a:endParaRPr b="1" sz="2400">
              <a:solidFill>
                <a:srgbClr val="002060"/>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en-US" sz="1400">
                <a:solidFill>
                  <a:schemeClr val="dk1"/>
                </a:solidFill>
                <a:latin typeface="Palatino Linotype"/>
                <a:ea typeface="Palatino Linotype"/>
                <a:cs typeface="Palatino Linotype"/>
                <a:sym typeface="Palatino Linotype"/>
              </a:rPr>
              <a:t>Analyze COVID-19 case trends, mortality rates, and recovery patterns in Bangladesh and other countries.</a:t>
            </a:r>
            <a:endParaRPr/>
          </a:p>
          <a:p>
            <a:pPr indent="0" lvl="0" marL="0" marR="0" rtl="0" algn="l">
              <a:spcBef>
                <a:spcPts val="0"/>
              </a:spcBef>
              <a:spcAft>
                <a:spcPts val="0"/>
              </a:spcAft>
              <a:buNone/>
            </a:pPr>
            <a:r>
              <a:rPr b="1" lang="en-US" sz="1400">
                <a:solidFill>
                  <a:schemeClr val="dk1"/>
                </a:solidFill>
                <a:latin typeface="Palatino Linotype"/>
                <a:ea typeface="Palatino Linotype"/>
                <a:cs typeface="Palatino Linotype"/>
                <a:sym typeface="Palatino Linotype"/>
              </a:rPr>
              <a:t>Identify key factors influencing the spread and impact of COVID-19 across different regions.</a:t>
            </a:r>
            <a:endParaRPr/>
          </a:p>
        </p:txBody>
      </p:sp>
      <p:sp>
        <p:nvSpPr>
          <p:cNvPr id="152" name="Google Shape;152;p11"/>
          <p:cNvSpPr/>
          <p:nvPr/>
        </p:nvSpPr>
        <p:spPr>
          <a:xfrm>
            <a:off x="533400" y="1905000"/>
            <a:ext cx="8229600" cy="4800600"/>
          </a:xfrm>
          <a:prstGeom prst="rect">
            <a:avLst/>
          </a:prstGeom>
          <a:blipFill rotWithShape="1">
            <a:blip r:embed="rId3">
              <a:alphaModFix/>
            </a:blip>
            <a:stretch>
              <a:fillRect b="0" l="0" r="0" t="0"/>
            </a:stretch>
          </a:blip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p:transition p14:dur="250">
    <p:circl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61111"/>
              </a:lnSpc>
              <a:spcBef>
                <a:spcPts val="0"/>
              </a:spcBef>
              <a:spcAft>
                <a:spcPts val="0"/>
              </a:spcAft>
              <a:buClr>
                <a:srgbClr val="002060"/>
              </a:buClr>
              <a:buSzPts val="3600"/>
              <a:buFont typeface="Palatino Linotype"/>
              <a:buNone/>
            </a:pPr>
            <a:r>
              <a:rPr b="1" lang="en-US" sz="3600">
                <a:solidFill>
                  <a:srgbClr val="002060"/>
                </a:solidFill>
                <a:latin typeface="Palatino Linotype"/>
                <a:ea typeface="Palatino Linotype"/>
                <a:cs typeface="Palatino Linotype"/>
                <a:sym typeface="Palatino Linotype"/>
              </a:rPr>
              <a:t>Recovery Rate and Death Rate Analysis</a:t>
            </a:r>
            <a:endParaRPr/>
          </a:p>
        </p:txBody>
      </p:sp>
      <p:sp>
        <p:nvSpPr>
          <p:cNvPr id="158" name="Google Shape;158;p12"/>
          <p:cNvSpPr/>
          <p:nvPr/>
        </p:nvSpPr>
        <p:spPr>
          <a:xfrm>
            <a:off x="4343400" y="1661304"/>
            <a:ext cx="4572000" cy="3078192"/>
          </a:xfrm>
          <a:prstGeom prst="rect">
            <a:avLst/>
          </a:prstGeom>
          <a:blipFill rotWithShape="1">
            <a:blip r:embed="rId3">
              <a:alphaModFix/>
            </a:blip>
            <a:stretch>
              <a:fillRect b="0" l="0" r="0" t="0"/>
            </a:stretch>
          </a:blip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pic>
        <p:nvPicPr>
          <p:cNvPr id="159" name="Google Shape;159;p12"/>
          <p:cNvPicPr preferRelativeResize="0"/>
          <p:nvPr/>
        </p:nvPicPr>
        <p:blipFill rotWithShape="1">
          <a:blip r:embed="rId4">
            <a:alphaModFix/>
          </a:blip>
          <a:srcRect b="52905" l="2756" r="61333" t="22723"/>
          <a:stretch/>
        </p:blipFill>
        <p:spPr>
          <a:xfrm>
            <a:off x="304800" y="2209800"/>
            <a:ext cx="3810000" cy="2011392"/>
          </a:xfrm>
          <a:prstGeom prst="rect">
            <a:avLst/>
          </a:prstGeom>
          <a:noFill/>
          <a:ln>
            <a:noFill/>
          </a:ln>
        </p:spPr>
      </p:pic>
      <p:sp>
        <p:nvSpPr>
          <p:cNvPr id="160" name="Google Shape;160;p12"/>
          <p:cNvSpPr/>
          <p:nvPr/>
        </p:nvSpPr>
        <p:spPr>
          <a:xfrm>
            <a:off x="228600" y="4572000"/>
            <a:ext cx="8458200" cy="20574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USA Highest number of Confirmed cases</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USA Highest number of Death Cases</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India Highest number of Recovered cases</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India Highest Recovery rate (0.93)</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Brazil Highest Death Rate (0.30)</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France Lowest Recovery rate (0.07)</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India Lowest Death Rate (0.01)</a:t>
            </a:r>
            <a:endParaRPr/>
          </a:p>
          <a:p>
            <a:pPr indent="0" lvl="0" marL="0" marR="0" rtl="0" algn="l">
              <a:spcBef>
                <a:spcPts val="0"/>
              </a:spcBef>
              <a:spcAft>
                <a:spcPts val="0"/>
              </a:spcAft>
              <a:buNone/>
            </a:pPr>
            <a:r>
              <a:rPr b="1" lang="en-US" sz="1600">
                <a:solidFill>
                  <a:schemeClr val="dk1"/>
                </a:solidFill>
                <a:latin typeface="Palatino Linotype"/>
                <a:ea typeface="Palatino Linotype"/>
                <a:cs typeface="Palatino Linotype"/>
                <a:sym typeface="Palatino Linotype"/>
              </a:rPr>
              <a:t>The Graphical representation is also reflecting the same stats.</a:t>
            </a:r>
            <a:endParaRPr/>
          </a:p>
        </p:txBody>
      </p:sp>
    </p:spTree>
  </p:cSld>
  <p:clrMapOvr>
    <a:masterClrMapping/>
  </p:clrMapOvr>
  <p:transition>
    <p:checke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ph type="title"/>
          </p:nvPr>
        </p:nvSpPr>
        <p:spPr>
          <a:xfrm>
            <a:off x="457200" y="152400"/>
            <a:ext cx="8229600" cy="914400"/>
          </a:xfrm>
          <a:prstGeom prst="rect">
            <a:avLst/>
          </a:prstGeom>
          <a:noFill/>
          <a:ln>
            <a:noFill/>
          </a:ln>
        </p:spPr>
        <p:txBody>
          <a:bodyPr anchorCtr="0" anchor="b" bIns="45700" lIns="91425" spcFirstLastPara="1" rIns="91425" wrap="square" tIns="45700">
            <a:noAutofit/>
          </a:bodyPr>
          <a:lstStyle/>
          <a:p>
            <a:pPr indent="0" lvl="0" marL="0" rtl="0" algn="ctr">
              <a:lnSpc>
                <a:spcPct val="161111"/>
              </a:lnSpc>
              <a:spcBef>
                <a:spcPts val="0"/>
              </a:spcBef>
              <a:spcAft>
                <a:spcPts val="0"/>
              </a:spcAft>
              <a:buClr>
                <a:srgbClr val="002060"/>
              </a:buClr>
              <a:buSzPts val="3600"/>
              <a:buFont typeface="Palatino Linotype"/>
              <a:buNone/>
            </a:pPr>
            <a:r>
              <a:rPr b="1" lang="en-US" sz="3600">
                <a:solidFill>
                  <a:srgbClr val="002060"/>
                </a:solidFill>
                <a:latin typeface="Palatino Linotype"/>
                <a:ea typeface="Palatino Linotype"/>
                <a:cs typeface="Palatino Linotype"/>
                <a:sym typeface="Palatino Linotype"/>
              </a:rPr>
              <a:t>Predictive Modeling </a:t>
            </a:r>
            <a:endParaRPr/>
          </a:p>
        </p:txBody>
      </p:sp>
      <p:sp>
        <p:nvSpPr>
          <p:cNvPr id="166" name="Google Shape;166;p13"/>
          <p:cNvSpPr txBox="1"/>
          <p:nvPr>
            <p:ph idx="1" type="body"/>
          </p:nvPr>
        </p:nvSpPr>
        <p:spPr>
          <a:xfrm>
            <a:off x="457200" y="1371601"/>
            <a:ext cx="8229600" cy="12192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rgbClr val="7F7F7F"/>
              </a:buClr>
              <a:buSzPct val="100000"/>
              <a:buChar char="•"/>
            </a:pPr>
            <a:r>
              <a:rPr lang="en-US"/>
              <a:t>Develop a Predictive Data Model (PDM) using TensorFlow and machine learning algorithms to forecast future COVID-19 trends.</a:t>
            </a:r>
            <a:endParaRPr/>
          </a:p>
          <a:p>
            <a:pPr indent="-342900" lvl="0" marL="342900" rtl="0" algn="l">
              <a:spcBef>
                <a:spcPts val="372"/>
              </a:spcBef>
              <a:spcAft>
                <a:spcPts val="0"/>
              </a:spcAft>
              <a:buClr>
                <a:srgbClr val="7F7F7F"/>
              </a:buClr>
              <a:buSzPct val="100000"/>
              <a:buChar char="•"/>
            </a:pPr>
            <a:r>
              <a:rPr lang="en-US"/>
              <a:t>Evaluate the accuracy of predictive models in estimating case surges and mortality rates.</a:t>
            </a:r>
            <a:endParaRPr/>
          </a:p>
        </p:txBody>
      </p:sp>
      <p:sp>
        <p:nvSpPr>
          <p:cNvPr id="167" name="Google Shape;167;p13"/>
          <p:cNvSpPr/>
          <p:nvPr/>
        </p:nvSpPr>
        <p:spPr>
          <a:xfrm>
            <a:off x="0" y="2438400"/>
            <a:ext cx="9144000" cy="4267200"/>
          </a:xfrm>
          <a:prstGeom prst="rect">
            <a:avLst/>
          </a:prstGeom>
          <a:blipFill rotWithShape="1">
            <a:blip r:embed="rId3">
              <a:alphaModFix/>
            </a:blip>
            <a:stretch>
              <a:fillRect b="0" l="0" r="0" t="0"/>
            </a:stretch>
          </a:blip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p14:gallery dir="l"/>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4"/>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07407"/>
              </a:lnSpc>
              <a:spcBef>
                <a:spcPts val="0"/>
              </a:spcBef>
              <a:spcAft>
                <a:spcPts val="0"/>
              </a:spcAft>
              <a:buClr>
                <a:srgbClr val="002060"/>
              </a:buClr>
              <a:buSzPts val="5400"/>
              <a:buFont typeface="Palatino Linotype"/>
              <a:buNone/>
            </a:pPr>
            <a:r>
              <a:rPr b="1" lang="en-US">
                <a:solidFill>
                  <a:srgbClr val="002060"/>
                </a:solidFill>
              </a:rPr>
              <a:t>Problem Statement</a:t>
            </a:r>
            <a:br>
              <a:rPr b="1" lang="en-US"/>
            </a:br>
            <a:endParaRPr b="1"/>
          </a:p>
        </p:txBody>
      </p:sp>
      <p:sp>
        <p:nvSpPr>
          <p:cNvPr id="173" name="Google Shape;173;p14"/>
          <p:cNvSpPr txBox="1"/>
          <p:nvPr>
            <p:ph idx="1" type="body"/>
          </p:nvPr>
        </p:nvSpPr>
        <p:spPr>
          <a:xfrm>
            <a:off x="457200" y="1295401"/>
            <a:ext cx="7086600" cy="838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7F7F7F"/>
              </a:buClr>
              <a:buSzPts val="2400"/>
              <a:buChar char="•"/>
            </a:pPr>
            <a:r>
              <a:rPr b="1" lang="en-US"/>
              <a:t>Why is Covid-19 prediction important?</a:t>
            </a:r>
            <a:r>
              <a:rPr lang="en-US"/>
              <a:t> </a:t>
            </a:r>
            <a:endParaRPr/>
          </a:p>
          <a:p>
            <a:pPr indent="-190500" lvl="0" marL="342900" rtl="0" algn="l">
              <a:spcBef>
                <a:spcPts val="480"/>
              </a:spcBef>
              <a:spcAft>
                <a:spcPts val="0"/>
              </a:spcAft>
              <a:buClr>
                <a:srgbClr val="7F7F7F"/>
              </a:buClr>
              <a:buSzPts val="2400"/>
              <a:buNone/>
            </a:pPr>
            <a:r>
              <a:t/>
            </a:r>
            <a:endParaRPr/>
          </a:p>
        </p:txBody>
      </p:sp>
      <p:sp>
        <p:nvSpPr>
          <p:cNvPr id="174" name="Google Shape;174;p14"/>
          <p:cNvSpPr/>
          <p:nvPr/>
        </p:nvSpPr>
        <p:spPr>
          <a:xfrm>
            <a:off x="304800" y="2133600"/>
            <a:ext cx="8610600" cy="45720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2060"/>
                </a:solidFill>
                <a:latin typeface="Palatino Linotype"/>
                <a:ea typeface="Palatino Linotype"/>
                <a:cs typeface="Palatino Linotype"/>
                <a:sym typeface="Palatino Linotype"/>
              </a:rPr>
              <a:t>Problem Statement: </a:t>
            </a:r>
            <a:r>
              <a:rPr lang="en-US" sz="1800">
                <a:solidFill>
                  <a:schemeClr val="dk1"/>
                </a:solidFill>
                <a:latin typeface="Palatino Linotype"/>
                <a:ea typeface="Palatino Linotype"/>
                <a:cs typeface="Palatino Linotype"/>
                <a:sym typeface="Palatino Linotype"/>
              </a:rPr>
              <a:t>The COVID-19 pandemic has caused widespread disruptions, overwhelming healthcare systems, economies, and daily life. Understanding the spread patterns, mortality rates, and future trends of COVID-19 is critical for governments, healthcare professionals, and researchers. However, the unpredictability of the virus, the emergence of new variants, and regional differences in response strategies make accurate forecasting a challenge.</a:t>
            </a:r>
            <a:endParaRPr/>
          </a:p>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1800">
                <a:solidFill>
                  <a:schemeClr val="dk1"/>
                </a:solidFill>
                <a:latin typeface="Palatino Linotype"/>
                <a:ea typeface="Palatino Linotype"/>
                <a:cs typeface="Palatino Linotype"/>
                <a:sym typeface="Palatino Linotype"/>
              </a:rPr>
              <a:t>This project aims to address this issue by using data analysis and machine learning to:</a:t>
            </a:r>
            <a:endParaRPr/>
          </a:p>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1800">
                <a:solidFill>
                  <a:schemeClr val="dk1"/>
                </a:solidFill>
                <a:latin typeface="Palatino Linotype"/>
                <a:ea typeface="Palatino Linotype"/>
                <a:cs typeface="Palatino Linotype"/>
                <a:sym typeface="Palatino Linotype"/>
              </a:rPr>
              <a:t>    Compare COVID-19 trends globally and in Bangladesh.</a:t>
            </a:r>
            <a:endParaRPr/>
          </a:p>
          <a:p>
            <a:pPr indent="0" lvl="0" marL="0" marR="0" rtl="0" algn="ctr">
              <a:spcBef>
                <a:spcPts val="0"/>
              </a:spcBef>
              <a:spcAft>
                <a:spcPts val="0"/>
              </a:spcAft>
              <a:buNone/>
            </a:pPr>
            <a:r>
              <a:rPr lang="en-US" sz="1800">
                <a:solidFill>
                  <a:schemeClr val="dk1"/>
                </a:solidFill>
                <a:latin typeface="Palatino Linotype"/>
                <a:ea typeface="Palatino Linotype"/>
                <a:cs typeface="Palatino Linotype"/>
                <a:sym typeface="Palatino Linotype"/>
              </a:rPr>
              <a:t>    Develop predictive models to forecast future cases.</a:t>
            </a:r>
            <a:endParaRPr/>
          </a:p>
          <a:p>
            <a:pPr indent="0" lvl="0" marL="0" marR="0" rtl="0" algn="ctr">
              <a:spcBef>
                <a:spcPts val="0"/>
              </a:spcBef>
              <a:spcAft>
                <a:spcPts val="0"/>
              </a:spcAft>
              <a:buNone/>
            </a:pPr>
            <a:r>
              <a:rPr lang="en-US" sz="1800">
                <a:solidFill>
                  <a:schemeClr val="dk1"/>
                </a:solidFill>
                <a:latin typeface="Palatino Linotype"/>
                <a:ea typeface="Palatino Linotype"/>
                <a:cs typeface="Palatino Linotype"/>
                <a:sym typeface="Palatino Linotype"/>
              </a:rPr>
              <a:t>    Provide insights to aid public health decision-making.</a:t>
            </a:r>
            <a:endParaRPr/>
          </a:p>
        </p:txBody>
      </p:sp>
    </p:spTree>
  </p:cSld>
  <p:clrMapOvr>
    <a:masterClrMapping/>
  </p:clrMapOvr>
  <mc:AlternateContent>
    <mc:Choice Requires="p14">
      <p:transition spd="slow">
        <p14:honeycomb/>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07407"/>
              </a:lnSpc>
              <a:spcBef>
                <a:spcPts val="0"/>
              </a:spcBef>
              <a:spcAft>
                <a:spcPts val="0"/>
              </a:spcAft>
              <a:buClr>
                <a:srgbClr val="002060"/>
              </a:buClr>
              <a:buSzPts val="5400"/>
              <a:buFont typeface="Palatino Linotype"/>
              <a:buNone/>
            </a:pPr>
            <a:r>
              <a:rPr b="1" lang="en-US">
                <a:solidFill>
                  <a:srgbClr val="002060"/>
                </a:solidFill>
                <a:latin typeface="Palatino Linotype"/>
                <a:ea typeface="Palatino Linotype"/>
                <a:cs typeface="Palatino Linotype"/>
                <a:sym typeface="Palatino Linotype"/>
              </a:rPr>
              <a:t>Why is COVID-19 Prediction Important?</a:t>
            </a:r>
            <a:endParaRPr/>
          </a:p>
        </p:txBody>
      </p:sp>
      <p:sp>
        <p:nvSpPr>
          <p:cNvPr id="180" name="Google Shape;180;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rgbClr val="7F7F7F"/>
              </a:buClr>
              <a:buSzPct val="100000"/>
              <a:buChar char="•"/>
            </a:pPr>
            <a:r>
              <a:rPr lang="en-US"/>
              <a:t>Early Warning System  Helps governments and healthcare systems prepare for case surges and allocate resources efficiently.</a:t>
            </a:r>
            <a:endParaRPr/>
          </a:p>
          <a:p>
            <a:pPr indent="-224790" lvl="0" marL="342900" rtl="0" algn="l">
              <a:spcBef>
                <a:spcPts val="372"/>
              </a:spcBef>
              <a:spcAft>
                <a:spcPts val="0"/>
              </a:spcAft>
              <a:buClr>
                <a:srgbClr val="7F7F7F"/>
              </a:buClr>
              <a:buSzPct val="100000"/>
              <a:buNone/>
            </a:pPr>
            <a:r>
              <a:t/>
            </a:r>
            <a:endParaRPr/>
          </a:p>
          <a:p>
            <a:pPr indent="-342900" lvl="0" marL="342900" rtl="0" algn="l">
              <a:spcBef>
                <a:spcPts val="372"/>
              </a:spcBef>
              <a:spcAft>
                <a:spcPts val="0"/>
              </a:spcAft>
              <a:buClr>
                <a:srgbClr val="7F7F7F"/>
              </a:buClr>
              <a:buSzPct val="100000"/>
              <a:buChar char="•"/>
            </a:pPr>
            <a:r>
              <a:rPr lang="en-US"/>
              <a:t> Hospital &amp; Resource Management  Ensures optimal distribution of ICU beds, ventilators, and vaccines based on predictive trends.</a:t>
            </a:r>
            <a:endParaRPr/>
          </a:p>
          <a:p>
            <a:pPr indent="-224790" lvl="0" marL="342900" rtl="0" algn="l">
              <a:spcBef>
                <a:spcPts val="372"/>
              </a:spcBef>
              <a:spcAft>
                <a:spcPts val="0"/>
              </a:spcAft>
              <a:buClr>
                <a:srgbClr val="7F7F7F"/>
              </a:buClr>
              <a:buSzPct val="100000"/>
              <a:buNone/>
            </a:pPr>
            <a:r>
              <a:t/>
            </a:r>
            <a:endParaRPr/>
          </a:p>
          <a:p>
            <a:pPr indent="-342900" lvl="0" marL="342900" rtl="0" algn="l">
              <a:spcBef>
                <a:spcPts val="372"/>
              </a:spcBef>
              <a:spcAft>
                <a:spcPts val="0"/>
              </a:spcAft>
              <a:buClr>
                <a:srgbClr val="7F7F7F"/>
              </a:buClr>
              <a:buSzPct val="100000"/>
              <a:buChar char="•"/>
            </a:pPr>
            <a:r>
              <a:rPr lang="en-US"/>
              <a:t> Policy &amp; Lockdown Planning  Assists in implementing data-driven restrictions and safety measures to reduce transmission.</a:t>
            </a:r>
            <a:endParaRPr/>
          </a:p>
          <a:p>
            <a:pPr indent="-224790" lvl="0" marL="342900" rtl="0" algn="l">
              <a:spcBef>
                <a:spcPts val="372"/>
              </a:spcBef>
              <a:spcAft>
                <a:spcPts val="0"/>
              </a:spcAft>
              <a:buClr>
                <a:srgbClr val="7F7F7F"/>
              </a:buClr>
              <a:buSzPct val="100000"/>
              <a:buNone/>
            </a:pPr>
            <a:r>
              <a:t/>
            </a:r>
            <a:endParaRPr/>
          </a:p>
          <a:p>
            <a:pPr indent="-342900" lvl="0" marL="342900" rtl="0" algn="l">
              <a:spcBef>
                <a:spcPts val="372"/>
              </a:spcBef>
              <a:spcAft>
                <a:spcPts val="0"/>
              </a:spcAft>
              <a:buClr>
                <a:srgbClr val="7F7F7F"/>
              </a:buClr>
              <a:buSzPct val="100000"/>
              <a:buChar char="•"/>
            </a:pPr>
            <a:r>
              <a:rPr lang="en-US"/>
              <a:t>Economic Stability  Helps businesses and policymakers balance public health and economic activities through informed decisions.</a:t>
            </a:r>
            <a:endParaRPr/>
          </a:p>
          <a:p>
            <a:pPr indent="-224790" lvl="0" marL="342900" rtl="0" algn="l">
              <a:spcBef>
                <a:spcPts val="372"/>
              </a:spcBef>
              <a:spcAft>
                <a:spcPts val="0"/>
              </a:spcAft>
              <a:buClr>
                <a:srgbClr val="7F7F7F"/>
              </a:buClr>
              <a:buSzPct val="100000"/>
              <a:buNone/>
            </a:pPr>
            <a:r>
              <a:t/>
            </a:r>
            <a:endParaRPr/>
          </a:p>
          <a:p>
            <a:pPr indent="-342900" lvl="0" marL="342900" rtl="0" algn="l">
              <a:spcBef>
                <a:spcPts val="372"/>
              </a:spcBef>
              <a:spcAft>
                <a:spcPts val="0"/>
              </a:spcAft>
              <a:buClr>
                <a:srgbClr val="7F7F7F"/>
              </a:buClr>
              <a:buSzPct val="100000"/>
              <a:buChar char="•"/>
            </a:pPr>
            <a:r>
              <a:rPr lang="en-US"/>
              <a:t> Variant &amp; Mutation Tracking  Identifies patterns of new COVID-19 variants to mitigate future outbreaks.</a:t>
            </a:r>
            <a:endParaRPr/>
          </a:p>
        </p:txBody>
      </p:sp>
    </p:spTree>
  </p:cSld>
  <p:clrMapOvr>
    <a:masterClrMapping/>
  </p:clrMapOvr>
  <mc:AlternateContent>
    <mc:Choice Requires="p14">
      <p:transition spd="med">
        <p14:prism dir="l"/>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txBox="1"/>
          <p:nvPr>
            <p:ph type="title"/>
          </p:nvPr>
        </p:nvSpPr>
        <p:spPr>
          <a:xfrm>
            <a:off x="457200" y="533400"/>
            <a:ext cx="8229600" cy="1066800"/>
          </a:xfrm>
          <a:prstGeom prst="rect">
            <a:avLst/>
          </a:prstGeom>
          <a:noFill/>
          <a:ln>
            <a:noFill/>
          </a:ln>
        </p:spPr>
        <p:txBody>
          <a:bodyPr anchorCtr="0" anchor="b" bIns="45700" lIns="91425" spcFirstLastPara="1" rIns="91425" wrap="square" tIns="45700">
            <a:noAutofit/>
          </a:bodyPr>
          <a:lstStyle/>
          <a:p>
            <a:pPr indent="0" lvl="0" marL="0" rtl="0" algn="ctr">
              <a:lnSpc>
                <a:spcPct val="145000"/>
              </a:lnSpc>
              <a:spcBef>
                <a:spcPts val="0"/>
              </a:spcBef>
              <a:spcAft>
                <a:spcPts val="0"/>
              </a:spcAft>
              <a:buClr>
                <a:schemeClr val="dk2"/>
              </a:buClr>
              <a:buSzPts val="4000"/>
              <a:buFont typeface="Palatino Linotype"/>
              <a:buNone/>
            </a:pPr>
            <a:r>
              <a:rPr lang="en-US" sz="4000"/>
              <a:t>Challenges in Covid-19 forecasting</a:t>
            </a:r>
            <a:br>
              <a:rPr lang="en-US" sz="4000"/>
            </a:br>
            <a:endParaRPr sz="4000"/>
          </a:p>
        </p:txBody>
      </p:sp>
      <p:sp>
        <p:nvSpPr>
          <p:cNvPr id="186" name="Google Shape;186;p16"/>
          <p:cNvSpPr txBox="1"/>
          <p:nvPr>
            <p:ph idx="1" type="body"/>
          </p:nvPr>
        </p:nvSpPr>
        <p:spPr>
          <a:xfrm>
            <a:off x="457200" y="2057400"/>
            <a:ext cx="8229600" cy="4495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7F7F7F"/>
              </a:buClr>
              <a:buSzPts val="1600"/>
              <a:buNone/>
            </a:pPr>
            <a:r>
              <a:t/>
            </a:r>
            <a:endParaRPr sz="1600"/>
          </a:p>
          <a:p>
            <a:pPr indent="-342900" lvl="0" marL="342900" rtl="0" algn="l">
              <a:spcBef>
                <a:spcPts val="280"/>
              </a:spcBef>
              <a:spcAft>
                <a:spcPts val="0"/>
              </a:spcAft>
              <a:buClr>
                <a:srgbClr val="7F7F7F"/>
              </a:buClr>
              <a:buSzPts val="1400"/>
              <a:buChar char="•"/>
            </a:pPr>
            <a:r>
              <a:rPr b="1" lang="en-US" sz="1400"/>
              <a:t>1 Data Quality &amp; Availability </a:t>
            </a:r>
            <a:endParaRPr sz="1400"/>
          </a:p>
          <a:p>
            <a:pPr indent="-342900" lvl="0" marL="342900" rtl="0" algn="l">
              <a:spcBef>
                <a:spcPts val="280"/>
              </a:spcBef>
              <a:spcAft>
                <a:spcPts val="0"/>
              </a:spcAft>
              <a:buClr>
                <a:srgbClr val="7F7F7F"/>
              </a:buClr>
              <a:buSzPts val="1400"/>
              <a:buChar char="•"/>
            </a:pPr>
            <a:r>
              <a:rPr lang="en-US" sz="1400"/>
              <a:t>    Inconsistent Reporting  Many countries report COVID-19 cases differently, leading to data gaps.</a:t>
            </a:r>
            <a:endParaRPr/>
          </a:p>
          <a:p>
            <a:pPr indent="-342900" lvl="0" marL="342900" rtl="0" algn="l">
              <a:spcBef>
                <a:spcPts val="280"/>
              </a:spcBef>
              <a:spcAft>
                <a:spcPts val="0"/>
              </a:spcAft>
              <a:buClr>
                <a:srgbClr val="7F7F7F"/>
              </a:buClr>
              <a:buSzPts val="1400"/>
              <a:buChar char="•"/>
            </a:pPr>
            <a:r>
              <a:rPr lang="en-US" sz="1400"/>
              <a:t>    Underreporting &amp; Misinformation  Lack of testing and hidden cases affect accuracy.</a:t>
            </a:r>
            <a:endParaRPr/>
          </a:p>
          <a:p>
            <a:pPr indent="-342900" lvl="0" marL="342900" rtl="0" algn="l">
              <a:spcBef>
                <a:spcPts val="280"/>
              </a:spcBef>
              <a:spcAft>
                <a:spcPts val="0"/>
              </a:spcAft>
              <a:buClr>
                <a:srgbClr val="7F7F7F"/>
              </a:buClr>
              <a:buSzPts val="1400"/>
              <a:buChar char="•"/>
            </a:pPr>
            <a:r>
              <a:rPr lang="en-US" sz="1400"/>
              <a:t>    Evolving Variants  The emergence of new strains (e.g., Delta, Omicron) changes infection patterns.</a:t>
            </a:r>
            <a:endParaRPr sz="1400"/>
          </a:p>
          <a:p>
            <a:pPr indent="-342900" lvl="0" marL="342900" rtl="0" algn="l">
              <a:spcBef>
                <a:spcPts val="280"/>
              </a:spcBef>
              <a:spcAft>
                <a:spcPts val="0"/>
              </a:spcAft>
              <a:buClr>
                <a:srgbClr val="7F7F7F"/>
              </a:buClr>
              <a:buSzPts val="1400"/>
              <a:buChar char="•"/>
            </a:pPr>
            <a:r>
              <a:rPr b="1" lang="en-US" sz="1400"/>
              <a:t>2 Model Uncertainty &amp; Accuracy </a:t>
            </a:r>
            <a:endParaRPr sz="1400"/>
          </a:p>
          <a:p>
            <a:pPr indent="-342900" lvl="0" marL="342900" rtl="0" algn="l">
              <a:spcBef>
                <a:spcPts val="280"/>
              </a:spcBef>
              <a:spcAft>
                <a:spcPts val="0"/>
              </a:spcAft>
              <a:buClr>
                <a:srgbClr val="7F7F7F"/>
              </a:buClr>
              <a:buSzPts val="1400"/>
              <a:buChar char="•"/>
            </a:pPr>
            <a:r>
              <a:rPr lang="en-US" sz="1400"/>
              <a:t>    Changing Virus Behavior  Mutations make it hard to build long-term predictive models.</a:t>
            </a:r>
            <a:endParaRPr/>
          </a:p>
          <a:p>
            <a:pPr indent="-342900" lvl="0" marL="342900" rtl="0" algn="l">
              <a:spcBef>
                <a:spcPts val="280"/>
              </a:spcBef>
              <a:spcAft>
                <a:spcPts val="0"/>
              </a:spcAft>
              <a:buClr>
                <a:srgbClr val="7F7F7F"/>
              </a:buClr>
              <a:buSzPts val="1400"/>
              <a:buChar char="•"/>
            </a:pPr>
            <a:r>
              <a:rPr lang="en-US" sz="1400"/>
              <a:t>    Dynamic Human Responses  Government policies, lockdowns, and public behavior impact case trends.</a:t>
            </a:r>
            <a:endParaRPr/>
          </a:p>
          <a:p>
            <a:pPr indent="-342900" lvl="0" marL="342900" rtl="0" algn="l">
              <a:spcBef>
                <a:spcPts val="280"/>
              </a:spcBef>
              <a:spcAft>
                <a:spcPts val="0"/>
              </a:spcAft>
              <a:buClr>
                <a:srgbClr val="7F7F7F"/>
              </a:buClr>
              <a:buSzPts val="1400"/>
              <a:buChar char="•"/>
            </a:pPr>
            <a:r>
              <a:rPr lang="en-US" sz="1400"/>
              <a:t>    Lack of Universal Models  No single model fits all regions due to diverse healthcare systems and climates.</a:t>
            </a:r>
            <a:endParaRPr sz="1400"/>
          </a:p>
          <a:p>
            <a:pPr indent="-342900" lvl="0" marL="342900" rtl="0" algn="l">
              <a:spcBef>
                <a:spcPts val="280"/>
              </a:spcBef>
              <a:spcAft>
                <a:spcPts val="0"/>
              </a:spcAft>
              <a:buClr>
                <a:srgbClr val="7F7F7F"/>
              </a:buClr>
              <a:buSzPts val="1400"/>
              <a:buChar char="•"/>
            </a:pPr>
            <a:r>
              <a:rPr b="1" lang="en-US" sz="1400"/>
              <a:t>3 Data Processing &amp; Computational Limitations </a:t>
            </a:r>
            <a:endParaRPr/>
          </a:p>
          <a:p>
            <a:pPr indent="-342900" lvl="0" marL="342900" rtl="0" algn="l">
              <a:spcBef>
                <a:spcPts val="280"/>
              </a:spcBef>
              <a:spcAft>
                <a:spcPts val="0"/>
              </a:spcAft>
              <a:buClr>
                <a:srgbClr val="7F7F7F"/>
              </a:buClr>
              <a:buSzPts val="1400"/>
              <a:buChar char="•"/>
            </a:pPr>
            <a:r>
              <a:rPr lang="en-US" sz="1400"/>
              <a:t>    Big Data Handling  Large datasets require significant computing power.</a:t>
            </a:r>
            <a:endParaRPr/>
          </a:p>
          <a:p>
            <a:pPr indent="-342900" lvl="0" marL="342900" rtl="0" algn="l">
              <a:spcBef>
                <a:spcPts val="280"/>
              </a:spcBef>
              <a:spcAft>
                <a:spcPts val="0"/>
              </a:spcAft>
              <a:buClr>
                <a:srgbClr val="7F7F7F"/>
              </a:buClr>
              <a:buSzPts val="1400"/>
              <a:buChar char="•"/>
            </a:pPr>
            <a:r>
              <a:rPr lang="en-US" sz="1400"/>
              <a:t>    Bias in Machine Learning Models  Some models may favor certain regions due to biased training data.</a:t>
            </a:r>
            <a:endParaRPr/>
          </a:p>
          <a:p>
            <a:pPr indent="-342900" lvl="0" marL="342900" rtl="0" algn="l">
              <a:spcBef>
                <a:spcPts val="280"/>
              </a:spcBef>
              <a:spcAft>
                <a:spcPts val="0"/>
              </a:spcAft>
              <a:buClr>
                <a:srgbClr val="7F7F7F"/>
              </a:buClr>
              <a:buSzPts val="1400"/>
              <a:buChar char="•"/>
            </a:pPr>
            <a:r>
              <a:rPr lang="en-US" sz="1400"/>
              <a:t>    Integration of Multisource Data  Combining data from WHO, Kaggle, and country-specific sources is challenging.</a:t>
            </a:r>
            <a:endParaRPr/>
          </a:p>
          <a:p>
            <a:pPr indent="-241300" lvl="0" marL="342900" rtl="0" algn="l">
              <a:spcBef>
                <a:spcPts val="320"/>
              </a:spcBef>
              <a:spcAft>
                <a:spcPts val="0"/>
              </a:spcAft>
              <a:buClr>
                <a:srgbClr val="7F7F7F"/>
              </a:buClr>
              <a:buSzPts val="1600"/>
              <a:buNone/>
            </a:pPr>
            <a:r>
              <a:t/>
            </a:r>
            <a:endParaRPr sz="1600"/>
          </a:p>
        </p:txBody>
      </p:sp>
    </p:spTree>
  </p:cSld>
  <p:clrMapOvr>
    <a:masterClrMapping/>
  </p:clrMapOvr>
  <p:transition p14:dur="250">
    <p:randomBar dir="ver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7"/>
          <p:cNvSpPr txBox="1"/>
          <p:nvPr>
            <p:ph idx="1" type="body"/>
          </p:nvPr>
        </p:nvSpPr>
        <p:spPr>
          <a:xfrm>
            <a:off x="457200" y="381000"/>
            <a:ext cx="8229600" cy="57451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rgbClr val="7F7F7F"/>
              </a:buClr>
              <a:buSzPct val="100000"/>
              <a:buChar char="•"/>
            </a:pPr>
            <a:r>
              <a:rPr b="1" lang="en-US"/>
              <a:t>4 Ethical &amp; Privacy Concerns </a:t>
            </a:r>
            <a:endParaRPr/>
          </a:p>
          <a:p>
            <a:pPr indent="-236220" lvl="0" marL="342900" rtl="0" algn="l">
              <a:spcBef>
                <a:spcPts val="336"/>
              </a:spcBef>
              <a:spcAft>
                <a:spcPts val="0"/>
              </a:spcAft>
              <a:buClr>
                <a:srgbClr val="7F7F7F"/>
              </a:buClr>
              <a:buSzPct val="100000"/>
              <a:buNone/>
            </a:pPr>
            <a:r>
              <a:t/>
            </a:r>
            <a:endParaRPr/>
          </a:p>
          <a:p>
            <a:pPr indent="-342900" lvl="0" marL="342900" rtl="0" algn="l">
              <a:spcBef>
                <a:spcPts val="336"/>
              </a:spcBef>
              <a:spcAft>
                <a:spcPts val="0"/>
              </a:spcAft>
              <a:buClr>
                <a:srgbClr val="7F7F7F"/>
              </a:buClr>
              <a:buSzPct val="100000"/>
              <a:buChar char="•"/>
            </a:pPr>
            <a:r>
              <a:rPr lang="en-US"/>
              <a:t>    Personal Data Protection  Ensuring privacy when using patient-level data.</a:t>
            </a:r>
            <a:endParaRPr/>
          </a:p>
          <a:p>
            <a:pPr indent="-342900" lvl="0" marL="342900" rtl="0" algn="l">
              <a:spcBef>
                <a:spcPts val="336"/>
              </a:spcBef>
              <a:spcAft>
                <a:spcPts val="0"/>
              </a:spcAft>
              <a:buClr>
                <a:srgbClr val="7F7F7F"/>
              </a:buClr>
              <a:buSzPct val="100000"/>
              <a:buChar char="•"/>
            </a:pPr>
            <a:r>
              <a:rPr lang="en-US"/>
              <a:t>    Government Restrictions  Some countries limit data sharing, affecting global predictions.</a:t>
            </a:r>
            <a:endParaRPr/>
          </a:p>
          <a:p>
            <a:pPr indent="-236220" lvl="0" marL="342900" rtl="0" algn="l">
              <a:spcBef>
                <a:spcPts val="336"/>
              </a:spcBef>
              <a:spcAft>
                <a:spcPts val="0"/>
              </a:spcAft>
              <a:buClr>
                <a:srgbClr val="7F7F7F"/>
              </a:buClr>
              <a:buSzPct val="100000"/>
              <a:buNone/>
            </a:pPr>
            <a:r>
              <a:t/>
            </a:r>
            <a:endParaRPr b="1"/>
          </a:p>
          <a:p>
            <a:pPr indent="-342900" lvl="0" marL="342900" rtl="0" algn="l">
              <a:spcBef>
                <a:spcPts val="336"/>
              </a:spcBef>
              <a:spcAft>
                <a:spcPts val="0"/>
              </a:spcAft>
              <a:buClr>
                <a:srgbClr val="7F7F7F"/>
              </a:buClr>
              <a:buSzPct val="100000"/>
              <a:buChar char="•"/>
            </a:pPr>
            <a:r>
              <a:rPr b="1" lang="en-US"/>
              <a:t>5 Unpredictable Social &amp; Economic Factors </a:t>
            </a:r>
            <a:endParaRPr/>
          </a:p>
          <a:p>
            <a:pPr indent="-236220" lvl="0" marL="342900" rtl="0" algn="l">
              <a:spcBef>
                <a:spcPts val="336"/>
              </a:spcBef>
              <a:spcAft>
                <a:spcPts val="0"/>
              </a:spcAft>
              <a:buClr>
                <a:srgbClr val="7F7F7F"/>
              </a:buClr>
              <a:buSzPct val="100000"/>
              <a:buNone/>
            </a:pPr>
            <a:r>
              <a:t/>
            </a:r>
            <a:endParaRPr/>
          </a:p>
          <a:p>
            <a:pPr indent="-342900" lvl="0" marL="342900" rtl="0" algn="l">
              <a:spcBef>
                <a:spcPts val="336"/>
              </a:spcBef>
              <a:spcAft>
                <a:spcPts val="0"/>
              </a:spcAft>
              <a:buClr>
                <a:srgbClr val="7F7F7F"/>
              </a:buClr>
              <a:buSzPct val="100000"/>
              <a:buChar char="•"/>
            </a:pPr>
            <a:r>
              <a:rPr lang="en-US"/>
              <a:t>    Vaccine Hesitancy &amp; Distribution  Unequal access to vaccines affects recovery trends.</a:t>
            </a:r>
            <a:endParaRPr/>
          </a:p>
          <a:p>
            <a:pPr indent="-342900" lvl="0" marL="342900" rtl="0" algn="l">
              <a:spcBef>
                <a:spcPts val="336"/>
              </a:spcBef>
              <a:spcAft>
                <a:spcPts val="0"/>
              </a:spcAft>
              <a:buClr>
                <a:srgbClr val="7F7F7F"/>
              </a:buClr>
              <a:buSzPct val="100000"/>
              <a:buChar char="•"/>
            </a:pPr>
            <a:r>
              <a:rPr lang="en-US"/>
              <a:t>    Global Mobility &amp; Travel Restrictions  Border controls and reopening policies disrupt forecasts.</a:t>
            </a:r>
            <a:endParaRPr/>
          </a:p>
          <a:p>
            <a:pPr indent="-342900" lvl="0" marL="342900" rtl="0" algn="l">
              <a:spcBef>
                <a:spcPts val="336"/>
              </a:spcBef>
              <a:spcAft>
                <a:spcPts val="0"/>
              </a:spcAft>
              <a:buClr>
                <a:srgbClr val="7F7F7F"/>
              </a:buClr>
              <a:buSzPct val="100000"/>
              <a:buChar char="•"/>
            </a:pPr>
            <a:r>
              <a:rPr lang="en-US"/>
              <a:t>    Misinformation &amp; Public Behavior  Social media misinformation impacts adherence to safety measures.</a:t>
            </a:r>
            <a:endParaRPr/>
          </a:p>
          <a:p>
            <a:pPr indent="-236220" lvl="0" marL="342900" rtl="0" algn="l">
              <a:spcBef>
                <a:spcPts val="336"/>
              </a:spcBef>
              <a:spcAft>
                <a:spcPts val="0"/>
              </a:spcAft>
              <a:buClr>
                <a:srgbClr val="7F7F7F"/>
              </a:buClr>
              <a:buSzPct val="100000"/>
              <a:buNone/>
            </a:pPr>
            <a:r>
              <a:t/>
            </a:r>
            <a:endParaRPr/>
          </a:p>
          <a:p>
            <a:pPr indent="-342900" lvl="0" marL="342900" rtl="0" algn="l">
              <a:spcBef>
                <a:spcPts val="336"/>
              </a:spcBef>
              <a:spcAft>
                <a:spcPts val="0"/>
              </a:spcAft>
              <a:buClr>
                <a:srgbClr val="7F7F7F"/>
              </a:buClr>
              <a:buSzPct val="100000"/>
              <a:buChar char="•"/>
            </a:pPr>
            <a:r>
              <a:rPr b="1" lang="en-US"/>
              <a:t>6 Addressing These Challenges</a:t>
            </a:r>
            <a:endParaRPr/>
          </a:p>
          <a:p>
            <a:pPr indent="-342900" lvl="0" marL="342900" rtl="0" algn="l">
              <a:spcBef>
                <a:spcPts val="336"/>
              </a:spcBef>
              <a:spcAft>
                <a:spcPts val="0"/>
              </a:spcAft>
              <a:buClr>
                <a:srgbClr val="7F7F7F"/>
              </a:buClr>
              <a:buSzPct val="100000"/>
              <a:buChar char="•"/>
            </a:pPr>
            <a:r>
              <a:rPr lang="en-US"/>
              <a:t>    Using real-time data updates to improve prediction accuracy.</a:t>
            </a:r>
            <a:endParaRPr/>
          </a:p>
          <a:p>
            <a:pPr indent="-342900" lvl="0" marL="342900" rtl="0" algn="l">
              <a:spcBef>
                <a:spcPts val="336"/>
              </a:spcBef>
              <a:spcAft>
                <a:spcPts val="0"/>
              </a:spcAft>
              <a:buClr>
                <a:srgbClr val="7F7F7F"/>
              </a:buClr>
              <a:buSzPct val="100000"/>
              <a:buChar char="•"/>
            </a:pPr>
            <a:r>
              <a:rPr lang="en-US"/>
              <a:t>    Applying deep learning and AI models that adapt to new COVID-19 variants.</a:t>
            </a:r>
            <a:endParaRPr/>
          </a:p>
          <a:p>
            <a:pPr indent="-342900" lvl="0" marL="342900" rtl="0" algn="l">
              <a:spcBef>
                <a:spcPts val="336"/>
              </a:spcBef>
              <a:spcAft>
                <a:spcPts val="0"/>
              </a:spcAft>
              <a:buClr>
                <a:srgbClr val="7F7F7F"/>
              </a:buClr>
              <a:buSzPct val="100000"/>
              <a:buChar char="•"/>
            </a:pPr>
            <a:r>
              <a:rPr lang="en-US"/>
              <a:t>    Enhancing collaborative data-sharing across countries and institutions.</a:t>
            </a:r>
            <a:endParaRPr/>
          </a:p>
          <a:p>
            <a:pPr indent="-342900" lvl="0" marL="342900" rtl="0" algn="l">
              <a:spcBef>
                <a:spcPts val="336"/>
              </a:spcBef>
              <a:spcAft>
                <a:spcPts val="0"/>
              </a:spcAft>
              <a:buClr>
                <a:srgbClr val="7F7F7F"/>
              </a:buClr>
              <a:buSzPct val="100000"/>
              <a:buChar char="•"/>
            </a:pPr>
            <a:r>
              <a:rPr lang="en-US"/>
              <a:t>    Ensuring ethical and transparent use of public health data.</a:t>
            </a:r>
            <a:endParaRPr/>
          </a:p>
          <a:p>
            <a:pPr indent="0" lvl="0" marL="0" rtl="0" algn="l">
              <a:spcBef>
                <a:spcPts val="336"/>
              </a:spcBef>
              <a:spcAft>
                <a:spcPts val="0"/>
              </a:spcAft>
              <a:buClr>
                <a:srgbClr val="7F7F7F"/>
              </a:buClr>
              <a:buSzPct val="100000"/>
              <a:buNone/>
            </a:pPr>
            <a:r>
              <a:t/>
            </a:r>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ph type="title"/>
          </p:nvPr>
        </p:nvSpPr>
        <p:spPr>
          <a:xfrm>
            <a:off x="457200" y="274638"/>
            <a:ext cx="8229600" cy="132556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7407"/>
              </a:lnSpc>
              <a:spcBef>
                <a:spcPts val="0"/>
              </a:spcBef>
              <a:spcAft>
                <a:spcPts val="0"/>
              </a:spcAft>
              <a:buClr>
                <a:srgbClr val="002060"/>
              </a:buClr>
              <a:buSzPct val="100000"/>
              <a:buFont typeface="Palatino Linotype"/>
              <a:buNone/>
            </a:pPr>
            <a:r>
              <a:rPr b="1" lang="en-US" sz="3600">
                <a:solidFill>
                  <a:srgbClr val="002060"/>
                </a:solidFill>
                <a:latin typeface="Palatino Linotype"/>
                <a:ea typeface="Palatino Linotype"/>
                <a:cs typeface="Palatino Linotype"/>
                <a:sym typeface="Palatino Linotype"/>
              </a:rPr>
              <a:t>Key questions this project addresses</a:t>
            </a:r>
            <a:br>
              <a:rPr b="1" lang="en-US">
                <a:latin typeface="Palatino Linotype"/>
                <a:ea typeface="Palatino Linotype"/>
                <a:cs typeface="Palatino Linotype"/>
                <a:sym typeface="Palatino Linotype"/>
              </a:rPr>
            </a:br>
            <a:endParaRPr b="1">
              <a:latin typeface="Palatino Linotype"/>
              <a:ea typeface="Palatino Linotype"/>
              <a:cs typeface="Palatino Linotype"/>
              <a:sym typeface="Palatino Linotype"/>
            </a:endParaRPr>
          </a:p>
        </p:txBody>
      </p:sp>
      <p:sp>
        <p:nvSpPr>
          <p:cNvPr id="197" name="Google Shape;197;p18"/>
          <p:cNvSpPr txBox="1"/>
          <p:nvPr>
            <p:ph idx="1" type="body"/>
          </p:nvPr>
        </p:nvSpPr>
        <p:spPr>
          <a:xfrm>
            <a:off x="457200" y="1828800"/>
            <a:ext cx="8229600" cy="4297363"/>
          </a:xfrm>
          <a:prstGeom prst="rect">
            <a:avLst/>
          </a:prstGeom>
          <a:noFill/>
          <a:ln>
            <a:noFill/>
          </a:ln>
        </p:spPr>
        <p:txBody>
          <a:bodyPr anchorCtr="0" anchor="t" bIns="45700" lIns="91425" spcFirstLastPara="1" rIns="91425" wrap="square" tIns="45700">
            <a:normAutofit fontScale="32500" lnSpcReduction="20000"/>
          </a:bodyPr>
          <a:lstStyle/>
          <a:p>
            <a:pPr indent="-342900" lvl="0" marL="342900" rtl="0" algn="l">
              <a:spcBef>
                <a:spcPts val="0"/>
              </a:spcBef>
              <a:spcAft>
                <a:spcPts val="0"/>
              </a:spcAft>
              <a:buClr>
                <a:srgbClr val="7F7F7F"/>
              </a:buClr>
              <a:buSzPct val="68571"/>
              <a:buChar char="•"/>
            </a:pPr>
            <a:r>
              <a:rPr b="1" lang="en-US"/>
              <a:t>1</a:t>
            </a:r>
            <a:r>
              <a:rPr b="1" lang="en-US" sz="3500"/>
              <a:t>COVID-19 Trend Analysis </a:t>
            </a:r>
            <a:endParaRPr sz="3500"/>
          </a:p>
          <a:p>
            <a:pPr indent="-342931" lvl="0" marL="342900" rtl="0" algn="l">
              <a:spcBef>
                <a:spcPts val="227"/>
              </a:spcBef>
              <a:spcAft>
                <a:spcPts val="0"/>
              </a:spcAft>
              <a:buClr>
                <a:srgbClr val="7F7F7F"/>
              </a:buClr>
              <a:buSzPct val="100000"/>
              <a:buChar char="•"/>
            </a:pPr>
            <a:r>
              <a:rPr lang="en-US" sz="3500"/>
              <a:t>    How do COVID-19 infection, recovery, and mortality rates compare between Bangladesh and other countries?</a:t>
            </a:r>
            <a:endParaRPr/>
          </a:p>
          <a:p>
            <a:pPr indent="-342931" lvl="0" marL="342900" rtl="0" algn="l">
              <a:spcBef>
                <a:spcPts val="227"/>
              </a:spcBef>
              <a:spcAft>
                <a:spcPts val="0"/>
              </a:spcAft>
              <a:buClr>
                <a:srgbClr val="7F7F7F"/>
              </a:buClr>
              <a:buSzPct val="100000"/>
              <a:buChar char="•"/>
            </a:pPr>
            <a:r>
              <a:rPr lang="en-US" sz="3500"/>
              <a:t>    What factors (e.g., population density, government policies, vaccination rates) influence COVID-19 trends?</a:t>
            </a:r>
            <a:endParaRPr/>
          </a:p>
          <a:p>
            <a:pPr indent="-342931" lvl="0" marL="342900" rtl="0" algn="l">
              <a:spcBef>
                <a:spcPts val="227"/>
              </a:spcBef>
              <a:spcAft>
                <a:spcPts val="0"/>
              </a:spcAft>
              <a:buClr>
                <a:srgbClr val="7F7F7F"/>
              </a:buClr>
              <a:buSzPct val="100000"/>
              <a:buChar char="•"/>
            </a:pPr>
            <a:r>
              <a:rPr lang="en-US" sz="3500"/>
              <a:t>    How effective were different countries' public health interventions in controlling the spread?</a:t>
            </a:r>
            <a:endParaRPr/>
          </a:p>
          <a:p>
            <a:pPr indent="-270700" lvl="0" marL="342900" rtl="0" algn="l">
              <a:spcBef>
                <a:spcPts val="227"/>
              </a:spcBef>
              <a:spcAft>
                <a:spcPts val="0"/>
              </a:spcAft>
              <a:buClr>
                <a:srgbClr val="7F7F7F"/>
              </a:buClr>
              <a:buSzPct val="100000"/>
              <a:buNone/>
            </a:pPr>
            <a:r>
              <a:t/>
            </a:r>
            <a:endParaRPr sz="3500"/>
          </a:p>
          <a:p>
            <a:pPr indent="-342931" lvl="0" marL="342900" rtl="0" algn="l">
              <a:spcBef>
                <a:spcPts val="227"/>
              </a:spcBef>
              <a:spcAft>
                <a:spcPts val="0"/>
              </a:spcAft>
              <a:buClr>
                <a:srgbClr val="7F7F7F"/>
              </a:buClr>
              <a:buSzPct val="100000"/>
              <a:buChar char="•"/>
            </a:pPr>
            <a:r>
              <a:rPr b="1" lang="en-US" sz="3500"/>
              <a:t>2 Predictive Modeling &amp; Forecasting </a:t>
            </a:r>
            <a:endParaRPr sz="3500"/>
          </a:p>
          <a:p>
            <a:pPr indent="-342931" lvl="0" marL="342900" rtl="0" algn="l">
              <a:spcBef>
                <a:spcPts val="227"/>
              </a:spcBef>
              <a:spcAft>
                <a:spcPts val="0"/>
              </a:spcAft>
              <a:buClr>
                <a:srgbClr val="7F7F7F"/>
              </a:buClr>
              <a:buSzPct val="100000"/>
              <a:buChar char="•"/>
            </a:pPr>
            <a:r>
              <a:rPr lang="en-US" sz="3500"/>
              <a:t>    Can we develop an accurate Predictive Data Model (PDM) using TensorFlow and machine learning?</a:t>
            </a:r>
            <a:endParaRPr/>
          </a:p>
          <a:p>
            <a:pPr indent="-342931" lvl="0" marL="342900" rtl="0" algn="l">
              <a:spcBef>
                <a:spcPts val="227"/>
              </a:spcBef>
              <a:spcAft>
                <a:spcPts val="0"/>
              </a:spcAft>
              <a:buClr>
                <a:srgbClr val="7F7F7F"/>
              </a:buClr>
              <a:buSzPct val="100000"/>
              <a:buChar char="•"/>
            </a:pPr>
            <a:r>
              <a:rPr lang="en-US" sz="3500"/>
              <a:t>    How accurately can predictive models forecast future COVID-19 cases and mortality rates?</a:t>
            </a:r>
            <a:endParaRPr/>
          </a:p>
          <a:p>
            <a:pPr indent="-342931" lvl="0" marL="342900" rtl="0" algn="l">
              <a:spcBef>
                <a:spcPts val="227"/>
              </a:spcBef>
              <a:spcAft>
                <a:spcPts val="0"/>
              </a:spcAft>
              <a:buClr>
                <a:srgbClr val="7F7F7F"/>
              </a:buClr>
              <a:buSzPct val="100000"/>
              <a:buChar char="•"/>
            </a:pPr>
            <a:r>
              <a:rPr lang="en-US" sz="3500"/>
              <a:t>    What role does data variability (e.g., underreporting, new variants) play in forecasting accuracy?</a:t>
            </a:r>
            <a:endParaRPr/>
          </a:p>
          <a:p>
            <a:pPr indent="-270700" lvl="0" marL="342900" rtl="0" algn="l">
              <a:spcBef>
                <a:spcPts val="227"/>
              </a:spcBef>
              <a:spcAft>
                <a:spcPts val="0"/>
              </a:spcAft>
              <a:buClr>
                <a:srgbClr val="7F7F7F"/>
              </a:buClr>
              <a:buSzPct val="100000"/>
              <a:buNone/>
            </a:pPr>
            <a:r>
              <a:t/>
            </a:r>
            <a:endParaRPr sz="3500"/>
          </a:p>
          <a:p>
            <a:pPr indent="-342931" lvl="0" marL="342900" rtl="0" algn="l">
              <a:spcBef>
                <a:spcPts val="227"/>
              </a:spcBef>
              <a:spcAft>
                <a:spcPts val="0"/>
              </a:spcAft>
              <a:buClr>
                <a:srgbClr val="7F7F7F"/>
              </a:buClr>
              <a:buSzPct val="100000"/>
              <a:buChar char="•"/>
            </a:pPr>
            <a:r>
              <a:rPr b="1" lang="en-US" sz="3500"/>
              <a:t>3 Policy &amp; Healthcare Preparedness </a:t>
            </a:r>
            <a:endParaRPr sz="3500"/>
          </a:p>
          <a:p>
            <a:pPr indent="-342931" lvl="0" marL="342900" rtl="0" algn="l">
              <a:spcBef>
                <a:spcPts val="227"/>
              </a:spcBef>
              <a:spcAft>
                <a:spcPts val="0"/>
              </a:spcAft>
              <a:buClr>
                <a:srgbClr val="7F7F7F"/>
              </a:buClr>
              <a:buSzPct val="100000"/>
              <a:buChar char="•"/>
            </a:pPr>
            <a:r>
              <a:rPr lang="en-US" sz="3500"/>
              <a:t>    How can forecasting models help governments and healthcare providers in resource allocation (e.g., ICU beds, ventilators, vaccines)?</a:t>
            </a:r>
            <a:endParaRPr/>
          </a:p>
          <a:p>
            <a:pPr indent="-342931" lvl="0" marL="342900" rtl="0" algn="l">
              <a:spcBef>
                <a:spcPts val="227"/>
              </a:spcBef>
              <a:spcAft>
                <a:spcPts val="0"/>
              </a:spcAft>
              <a:buClr>
                <a:srgbClr val="7F7F7F"/>
              </a:buClr>
              <a:buSzPct val="100000"/>
              <a:buChar char="•"/>
            </a:pPr>
            <a:r>
              <a:rPr lang="en-US" sz="3500"/>
              <a:t>    What insights can be drawn from past lockdowns and restrictions to improve future pandemic responses?</a:t>
            </a:r>
            <a:endParaRPr/>
          </a:p>
          <a:p>
            <a:pPr indent="-342931" lvl="0" marL="342900" rtl="0" algn="l">
              <a:spcBef>
                <a:spcPts val="227"/>
              </a:spcBef>
              <a:spcAft>
                <a:spcPts val="0"/>
              </a:spcAft>
              <a:buClr>
                <a:srgbClr val="7F7F7F"/>
              </a:buClr>
              <a:buSzPct val="100000"/>
              <a:buChar char="•"/>
            </a:pPr>
            <a:r>
              <a:rPr lang="en-US" sz="3500"/>
              <a:t>    How can data-driven approaches improve pandemic preparedness for future outbreaks?</a:t>
            </a:r>
            <a:endParaRPr/>
          </a:p>
        </p:txBody>
      </p:sp>
    </p:spTree>
  </p:cSld>
  <p:clrMapOvr>
    <a:masterClrMapping/>
  </p:clrMapOvr>
  <p:transition spd="slow">
    <p:checke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9"/>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7407"/>
              </a:lnSpc>
              <a:spcBef>
                <a:spcPts val="0"/>
              </a:spcBef>
              <a:spcAft>
                <a:spcPts val="0"/>
              </a:spcAft>
              <a:buClr>
                <a:srgbClr val="002060"/>
              </a:buClr>
              <a:buSzPct val="100000"/>
              <a:buFont typeface="Palatino Linotype"/>
              <a:buNone/>
            </a:pPr>
            <a:r>
              <a:rPr b="1" lang="en-US">
                <a:solidFill>
                  <a:srgbClr val="002060"/>
                </a:solidFill>
                <a:latin typeface="Palatino Linotype"/>
                <a:ea typeface="Palatino Linotype"/>
                <a:cs typeface="Palatino Linotype"/>
                <a:sym typeface="Palatino Linotype"/>
              </a:rPr>
              <a:t>Data Collection &amp; Sources</a:t>
            </a:r>
            <a:br>
              <a:rPr b="1" lang="en-US">
                <a:latin typeface="Palatino Linotype"/>
                <a:ea typeface="Palatino Linotype"/>
                <a:cs typeface="Palatino Linotype"/>
                <a:sym typeface="Palatino Linotype"/>
              </a:rPr>
            </a:br>
            <a:endParaRPr b="1">
              <a:latin typeface="Palatino Linotype"/>
              <a:ea typeface="Palatino Linotype"/>
              <a:cs typeface="Palatino Linotype"/>
              <a:sym typeface="Palatino Linotype"/>
            </a:endParaRPr>
          </a:p>
        </p:txBody>
      </p:sp>
      <p:sp>
        <p:nvSpPr>
          <p:cNvPr id="203" name="Google Shape;20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7F7F7F"/>
              </a:buClr>
              <a:buSzPts val="1800"/>
              <a:buChar char="•"/>
            </a:pPr>
            <a:r>
              <a:rPr b="1" lang="en-US" sz="1800"/>
              <a:t>Kaggle, WHO, Bangladesh Health Ministry, Johns Hopkins University </a:t>
            </a:r>
            <a:endParaRPr/>
          </a:p>
          <a:p>
            <a:pPr indent="-342900" lvl="0" marL="342900" rtl="0" algn="l">
              <a:spcBef>
                <a:spcPts val="320"/>
              </a:spcBef>
              <a:spcAft>
                <a:spcPts val="0"/>
              </a:spcAft>
              <a:buClr>
                <a:srgbClr val="7F7F7F"/>
              </a:buClr>
              <a:buSzPts val="1600"/>
              <a:buChar char="•"/>
            </a:pPr>
            <a:r>
              <a:rPr lang="en-US" sz="1600"/>
              <a:t>World Health Organization (2024). 'Covid-19 Global Data'. Available at: www.who.int </a:t>
            </a:r>
            <a:endParaRPr/>
          </a:p>
          <a:p>
            <a:pPr indent="-342900" lvl="0" marL="342900" rtl="0" algn="l">
              <a:spcBef>
                <a:spcPts val="320"/>
              </a:spcBef>
              <a:spcAft>
                <a:spcPts val="0"/>
              </a:spcAft>
              <a:buClr>
                <a:srgbClr val="7F7F7F"/>
              </a:buClr>
              <a:buSzPts val="1600"/>
              <a:buChar char="•"/>
            </a:pPr>
            <a:r>
              <a:rPr lang="en-US" sz="1600"/>
              <a:t> Kaggle (2024). 'Covid-19 Dataset'. Available at: www.kaggle.com </a:t>
            </a:r>
            <a:endParaRPr sz="1600"/>
          </a:p>
          <a:p>
            <a:pPr indent="-342900" lvl="0" marL="342900" rtl="0" algn="l">
              <a:spcBef>
                <a:spcPts val="320"/>
              </a:spcBef>
              <a:spcAft>
                <a:spcPts val="0"/>
              </a:spcAft>
              <a:buClr>
                <a:srgbClr val="7F7F7F"/>
              </a:buClr>
              <a:buSzPts val="1600"/>
              <a:buChar char="•"/>
            </a:pPr>
            <a:r>
              <a:rPr lang="en-US" sz="1600"/>
              <a:t>Bangladesh Government Health Ministry (2024). 'Covid-19 Division-wise Data'. Available at: www.dghealth.gov.bd, https://data.humdata.org/dataset/district-wise-quarantine-for-covid-19, https://data.mendeley.com/datasets/b98d8mj2xk/1 .</a:t>
            </a:r>
            <a:endParaRPr/>
          </a:p>
          <a:p>
            <a:pPr indent="-342900" lvl="0" marL="342900" rtl="0" algn="l">
              <a:spcBef>
                <a:spcPts val="320"/>
              </a:spcBef>
              <a:spcAft>
                <a:spcPts val="0"/>
              </a:spcAft>
              <a:buClr>
                <a:srgbClr val="7F7F7F"/>
              </a:buClr>
              <a:buSzPts val="1600"/>
              <a:buChar char="•"/>
            </a:pPr>
            <a:r>
              <a:rPr b="1" lang="en-US" sz="1600"/>
              <a:t>Data types: Cases, deaths, recoveries.</a:t>
            </a:r>
            <a:endParaRPr/>
          </a:p>
          <a:p>
            <a:pPr indent="-342900" lvl="0" marL="342900" rtl="0" algn="l">
              <a:spcBef>
                <a:spcPts val="320"/>
              </a:spcBef>
              <a:spcAft>
                <a:spcPts val="0"/>
              </a:spcAft>
              <a:buClr>
                <a:srgbClr val="7F7F7F"/>
              </a:buClr>
              <a:buSzPts val="1600"/>
              <a:buChar char="•"/>
            </a:pPr>
            <a:r>
              <a:rPr b="1" lang="en-US" sz="1600"/>
              <a:t>Data preprocessing steps.</a:t>
            </a:r>
            <a:endParaRPr/>
          </a:p>
          <a:p>
            <a:pPr indent="0" lvl="0" marL="0" rtl="0" algn="l">
              <a:spcBef>
                <a:spcPts val="320"/>
              </a:spcBef>
              <a:spcAft>
                <a:spcPts val="0"/>
              </a:spcAft>
              <a:buClr>
                <a:srgbClr val="7F7F7F"/>
              </a:buClr>
              <a:buSzPts val="1600"/>
              <a:buNone/>
            </a:pPr>
            <a:r>
              <a:t/>
            </a:r>
            <a:endParaRPr sz="1600"/>
          </a:p>
        </p:txBody>
      </p:sp>
    </p:spTree>
  </p:cSld>
  <p:clrMapOvr>
    <a:masterClrMapping/>
  </p:clrMapOvr>
  <mc:AlternateContent>
    <mc:Choice Requires="p14">
      <p:transition>
        <p14:rippl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07407"/>
              </a:lnSpc>
              <a:spcBef>
                <a:spcPts val="0"/>
              </a:spcBef>
              <a:spcAft>
                <a:spcPts val="0"/>
              </a:spcAft>
              <a:buClr>
                <a:srgbClr val="002060"/>
              </a:buClr>
              <a:buSzPts val="5400"/>
              <a:buFont typeface="Palatino Linotype"/>
              <a:buNone/>
            </a:pPr>
            <a:r>
              <a:rPr b="1" lang="en-US">
                <a:solidFill>
                  <a:srgbClr val="002060"/>
                </a:solidFill>
                <a:latin typeface="Palatino Linotype"/>
                <a:ea typeface="Palatino Linotype"/>
                <a:cs typeface="Palatino Linotype"/>
                <a:sym typeface="Palatino Linotype"/>
              </a:rPr>
              <a:t>Predictive Data Model (PDM) Overview</a:t>
            </a:r>
            <a:endParaRPr/>
          </a:p>
        </p:txBody>
      </p:sp>
      <p:sp>
        <p:nvSpPr>
          <p:cNvPr id="209" name="Google Shape;209;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7F7F7F"/>
              </a:buClr>
              <a:buSzPts val="2000"/>
              <a:buChar char="•"/>
            </a:pPr>
            <a:r>
              <a:rPr b="1" lang="en-US" sz="2000"/>
              <a:t>Definition of Predictive Data Model (PDM):</a:t>
            </a:r>
            <a:endParaRPr/>
          </a:p>
          <a:p>
            <a:pPr indent="0" lvl="1" marL="400050" rtl="0" algn="l">
              <a:spcBef>
                <a:spcPts val="280"/>
              </a:spcBef>
              <a:spcAft>
                <a:spcPts val="0"/>
              </a:spcAft>
              <a:buClr>
                <a:srgbClr val="7F7F7F"/>
              </a:buClr>
              <a:buSzPts val="1400"/>
              <a:buNone/>
            </a:pPr>
            <a:r>
              <a:rPr b="1" lang="en-US" sz="1400"/>
              <a:t>A Predictive Data Model (PDM) is a mathematical or statistical approach that uses historical data, machine learning algorithms, and statistical techniques to forecast future outcomes. These models analyze patterns and relationships in datasets to make accurate predictions about future trends.</a:t>
            </a:r>
            <a:endParaRPr b="1" sz="1400"/>
          </a:p>
          <a:p>
            <a:pPr indent="-342900" lvl="0" marL="342900" rtl="0" algn="l">
              <a:spcBef>
                <a:spcPts val="400"/>
              </a:spcBef>
              <a:spcAft>
                <a:spcPts val="0"/>
              </a:spcAft>
              <a:buClr>
                <a:srgbClr val="7F7F7F"/>
              </a:buClr>
              <a:buSzPts val="2000"/>
              <a:buChar char="•"/>
            </a:pPr>
            <a:r>
              <a:rPr b="1" lang="en-US" sz="2000"/>
              <a:t>Key Features of PDM:</a:t>
            </a:r>
            <a:endParaRPr/>
          </a:p>
          <a:p>
            <a:pPr indent="0" lvl="1" marL="400050" rtl="0" algn="l">
              <a:spcBef>
                <a:spcPts val="280"/>
              </a:spcBef>
              <a:spcAft>
                <a:spcPts val="0"/>
              </a:spcAft>
              <a:buClr>
                <a:srgbClr val="7F7F7F"/>
              </a:buClr>
              <a:buSzPts val="1400"/>
              <a:buNone/>
            </a:pPr>
            <a:r>
              <a:rPr b="1" lang="en-US" sz="1400"/>
              <a:t>Uses historical and real-time data to detect patterns.</a:t>
            </a:r>
            <a:endParaRPr/>
          </a:p>
          <a:p>
            <a:pPr indent="0" lvl="1" marL="400050" rtl="0" algn="l">
              <a:spcBef>
                <a:spcPts val="280"/>
              </a:spcBef>
              <a:spcAft>
                <a:spcPts val="0"/>
              </a:spcAft>
              <a:buClr>
                <a:srgbClr val="7F7F7F"/>
              </a:buClr>
              <a:buSzPts val="1400"/>
              <a:buNone/>
            </a:pPr>
            <a:r>
              <a:rPr b="1" lang="en-US" sz="1400"/>
              <a:t> Applies machine learning algorithms like regression, classification, and neural networks.</a:t>
            </a:r>
            <a:endParaRPr/>
          </a:p>
          <a:p>
            <a:pPr indent="0" lvl="1" marL="400050" rtl="0" algn="l">
              <a:spcBef>
                <a:spcPts val="280"/>
              </a:spcBef>
              <a:spcAft>
                <a:spcPts val="0"/>
              </a:spcAft>
              <a:buClr>
                <a:srgbClr val="7F7F7F"/>
              </a:buClr>
              <a:buSzPts val="1400"/>
              <a:buNone/>
            </a:pPr>
            <a:r>
              <a:rPr b="1" lang="en-US" sz="1400"/>
              <a:t> Helps in decision-making by forecasting possible future scenarios.</a:t>
            </a:r>
            <a:endParaRPr/>
          </a:p>
          <a:p>
            <a:pPr indent="0" lvl="1" marL="400050" rtl="0" algn="l">
              <a:spcBef>
                <a:spcPts val="280"/>
              </a:spcBef>
              <a:spcAft>
                <a:spcPts val="0"/>
              </a:spcAft>
              <a:buClr>
                <a:srgbClr val="7F7F7F"/>
              </a:buClr>
              <a:buSzPts val="1400"/>
              <a:buNone/>
            </a:pPr>
            <a:r>
              <a:rPr b="1" lang="en-US" sz="1400"/>
              <a:t>Commonly used in healthcare, finance, weather forecasting, and business analytics.</a:t>
            </a:r>
            <a:endParaRPr/>
          </a:p>
          <a:p>
            <a:pPr indent="-342900" lvl="0" marL="342900" rtl="0" algn="l">
              <a:spcBef>
                <a:spcPts val="400"/>
              </a:spcBef>
              <a:spcAft>
                <a:spcPts val="0"/>
              </a:spcAft>
              <a:buClr>
                <a:srgbClr val="7F7F7F"/>
              </a:buClr>
              <a:buSzPts val="2000"/>
              <a:buChar char="•"/>
            </a:pPr>
            <a:r>
              <a:rPr b="1" lang="en-US" sz="2000"/>
              <a:t>Application in COVID-19 Analysis:</a:t>
            </a:r>
            <a:endParaRPr/>
          </a:p>
          <a:p>
            <a:pPr indent="0" lvl="0" marL="0" rtl="0" algn="l">
              <a:spcBef>
                <a:spcPts val="400"/>
              </a:spcBef>
              <a:spcAft>
                <a:spcPts val="0"/>
              </a:spcAft>
              <a:buClr>
                <a:srgbClr val="7F7F7F"/>
              </a:buClr>
              <a:buSzPts val="2000"/>
              <a:buNone/>
            </a:pPr>
            <a:r>
              <a:rPr b="1" lang="en-US" sz="2000"/>
              <a:t> 	</a:t>
            </a:r>
            <a:r>
              <a:rPr b="1" lang="en-US" sz="1400"/>
              <a:t>Predicts</a:t>
            </a:r>
            <a:r>
              <a:rPr lang="en-US" sz="1400"/>
              <a:t> future infection rates, mortality rates, and recovery trends.</a:t>
            </a:r>
            <a:br>
              <a:rPr lang="en-US" sz="1400"/>
            </a:br>
            <a:r>
              <a:rPr lang="en-US" sz="1400"/>
              <a:t> 	</a:t>
            </a:r>
            <a:r>
              <a:rPr b="1" lang="en-US" sz="1400"/>
              <a:t>Identifies high-risk areas</a:t>
            </a:r>
            <a:r>
              <a:rPr lang="en-US" sz="1400"/>
              <a:t> for targeted intervention.</a:t>
            </a:r>
            <a:br>
              <a:rPr lang="en-US" sz="1400"/>
            </a:br>
            <a:r>
              <a:rPr lang="en-US" sz="1400"/>
              <a:t> 	</a:t>
            </a:r>
            <a:r>
              <a:rPr b="1" lang="en-US" sz="1400"/>
              <a:t>Supports policymakers</a:t>
            </a:r>
            <a:r>
              <a:rPr lang="en-US" sz="1400"/>
              <a:t> in planning healthcare resources effectively.</a:t>
            </a:r>
            <a:endParaRPr b="1" sz="1400"/>
          </a:p>
          <a:p>
            <a:pPr indent="0" lvl="0" marL="0" rtl="0" algn="l">
              <a:spcBef>
                <a:spcPts val="480"/>
              </a:spcBef>
              <a:spcAft>
                <a:spcPts val="0"/>
              </a:spcAft>
              <a:buClr>
                <a:srgbClr val="7F7F7F"/>
              </a:buClr>
              <a:buSzPts val="2400"/>
              <a:buNone/>
            </a:pPr>
            <a:r>
              <a:t/>
            </a:r>
            <a:endParaRPr b="1"/>
          </a:p>
        </p:txBody>
      </p:sp>
    </p:spTree>
  </p:cSld>
  <p:clrMapOvr>
    <a:masterClrMapping/>
  </p:clrMapOvr>
  <mc:AlternateContent>
    <mc:Choice Requires="p14">
      <p:transition>
        <p14:shred dir="out"/>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1"/>
          <p:cNvSpPr/>
          <p:nvPr/>
        </p:nvSpPr>
        <p:spPr>
          <a:xfrm>
            <a:off x="380997" y="3657600"/>
            <a:ext cx="8193657" cy="18288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15" name="Google Shape;215;p21"/>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07407"/>
              </a:lnSpc>
              <a:spcBef>
                <a:spcPts val="0"/>
              </a:spcBef>
              <a:spcAft>
                <a:spcPts val="0"/>
              </a:spcAft>
              <a:buClr>
                <a:srgbClr val="002060"/>
              </a:buClr>
              <a:buSzPts val="5400"/>
              <a:buFont typeface="Palatino Linotype"/>
              <a:buNone/>
            </a:pPr>
            <a:r>
              <a:rPr b="1" lang="en-US">
                <a:solidFill>
                  <a:srgbClr val="002060"/>
                </a:solidFill>
              </a:rPr>
              <a:t>Model selection process</a:t>
            </a:r>
            <a:br>
              <a:rPr lang="en-US"/>
            </a:br>
            <a:endParaRPr/>
          </a:p>
        </p:txBody>
      </p:sp>
      <p:sp>
        <p:nvSpPr>
          <p:cNvPr id="216" name="Google Shape;216;p21"/>
          <p:cNvSpPr/>
          <p:nvPr/>
        </p:nvSpPr>
        <p:spPr>
          <a:xfrm>
            <a:off x="380997" y="1219200"/>
            <a:ext cx="8193657" cy="24384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Palatino Linotype"/>
                <a:ea typeface="Palatino Linotype"/>
                <a:cs typeface="Palatino Linotype"/>
                <a:sym typeface="Palatino Linotype"/>
              </a:rPr>
              <a:t>Define the Problem &amp; Objectives</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Palatino Linotype"/>
                <a:ea typeface="Palatino Linotype"/>
                <a:cs typeface="Palatino Linotype"/>
                <a:sym typeface="Palatino Linotype"/>
              </a:rPr>
              <a:t>What are we predicting? (New cases, deaths, recovery rates, etc.</a:t>
            </a:r>
            <a:endParaRPr b="1" sz="1400">
              <a:solidFill>
                <a:schemeClr val="dk1"/>
              </a:solidFill>
              <a:latin typeface="Palatino Linotype"/>
              <a:ea typeface="Palatino Linotype"/>
              <a:cs typeface="Palatino Linotype"/>
              <a:sym typeface="Palatino Linotype"/>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Palatino Linotype"/>
                <a:ea typeface="Palatino Linotype"/>
                <a:cs typeface="Palatino Linotype"/>
                <a:sym typeface="Palatino Linotype"/>
              </a:rPr>
              <a:t>What type of model is needed? (Regression, classification, or time-series forecasting</a:t>
            </a:r>
            <a:endParaRPr/>
          </a:p>
          <a:p>
            <a:pPr indent="-196850" lvl="0" marL="285750" marR="0" rtl="0" algn="l">
              <a:spcBef>
                <a:spcPts val="0"/>
              </a:spcBef>
              <a:spcAft>
                <a:spcPts val="0"/>
              </a:spcAft>
              <a:buClr>
                <a:schemeClr val="dk1"/>
              </a:buClr>
              <a:buSzPts val="1400"/>
              <a:buFont typeface="Arial"/>
              <a:buNone/>
            </a:pPr>
            <a:r>
              <a:t/>
            </a:r>
            <a:endParaRPr b="1" sz="14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t/>
            </a:r>
            <a:endParaRPr b="1" sz="14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en-US" sz="1800">
                <a:solidFill>
                  <a:schemeClr val="dk1"/>
                </a:solidFill>
                <a:latin typeface="Palatino Linotype"/>
                <a:ea typeface="Palatino Linotype"/>
                <a:cs typeface="Palatino Linotype"/>
                <a:sym typeface="Palatino Linotype"/>
              </a:rPr>
              <a:t>Model Exploration &amp; Selection </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Palatino Linotype"/>
                <a:ea typeface="Palatino Linotype"/>
                <a:cs typeface="Palatino Linotype"/>
                <a:sym typeface="Palatino Linotype"/>
              </a:rPr>
              <a:t>Based on the problem type, consider different models:</a:t>
            </a:r>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Palatino Linotype"/>
              <a:ea typeface="Palatino Linotype"/>
              <a:cs typeface="Palatino Linotype"/>
              <a:sym typeface="Palatino Linotype"/>
            </a:endParaRPr>
          </a:p>
        </p:txBody>
      </p:sp>
      <p:graphicFrame>
        <p:nvGraphicFramePr>
          <p:cNvPr id="217" name="Google Shape;217;p21"/>
          <p:cNvGraphicFramePr/>
          <p:nvPr/>
        </p:nvGraphicFramePr>
        <p:xfrm>
          <a:off x="457200" y="3810000"/>
          <a:ext cx="3000000" cy="3000000"/>
        </p:xfrm>
        <a:graphic>
          <a:graphicData uri="http://schemas.openxmlformats.org/drawingml/2006/table">
            <a:tbl>
              <a:tblPr>
                <a:noFill/>
                <a:tableStyleId>{6545902B-C43A-4705-847F-0C1A83677445}</a:tableStyleId>
              </a:tblPr>
              <a:tblGrid>
                <a:gridCol w="2590800"/>
                <a:gridCol w="2590800"/>
                <a:gridCol w="2590800"/>
              </a:tblGrid>
              <a:tr h="285025">
                <a:tc>
                  <a:txBody>
                    <a:bodyPr/>
                    <a:lstStyle/>
                    <a:p>
                      <a:pPr indent="0" lvl="0" marL="0" marR="0" rtl="0" algn="l">
                        <a:spcBef>
                          <a:spcPts val="0"/>
                        </a:spcBef>
                        <a:spcAft>
                          <a:spcPts val="0"/>
                        </a:spcAft>
                        <a:buNone/>
                      </a:pPr>
                      <a:r>
                        <a:rPr b="1" lang="en-US" sz="1200" u="none" cap="none" strike="noStrike"/>
                        <a:t>Model Type</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a:t>Best for</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a:t>Example Models</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5025">
                <a:tc>
                  <a:txBody>
                    <a:bodyPr/>
                    <a:lstStyle/>
                    <a:p>
                      <a:pPr indent="0" lvl="0" marL="0" marR="0" rtl="0" algn="l">
                        <a:spcBef>
                          <a:spcPts val="0"/>
                        </a:spcBef>
                        <a:spcAft>
                          <a:spcPts val="0"/>
                        </a:spcAft>
                        <a:buNone/>
                      </a:pPr>
                      <a:r>
                        <a:rPr b="1" lang="en-US" sz="1200"/>
                        <a:t>Time-Series Forecasting</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Case trends over time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ARIMA, LSTM (Deep Learning)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5025">
                <a:tc>
                  <a:txBody>
                    <a:bodyPr/>
                    <a:lstStyle/>
                    <a:p>
                      <a:pPr indent="0" lvl="0" marL="0" marR="0" rtl="0" algn="l">
                        <a:spcBef>
                          <a:spcPts val="0"/>
                        </a:spcBef>
                        <a:spcAft>
                          <a:spcPts val="0"/>
                        </a:spcAft>
                        <a:buNone/>
                      </a:pPr>
                      <a:r>
                        <a:rPr b="1" lang="en-US" sz="1200"/>
                        <a:t>Regression Models</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Continuous value prediction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Linear Regression, Random Forest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5025">
                <a:tc>
                  <a:txBody>
                    <a:bodyPr/>
                    <a:lstStyle/>
                    <a:p>
                      <a:pPr indent="0" lvl="0" marL="0" marR="0" rtl="0" algn="l">
                        <a:spcBef>
                          <a:spcPts val="0"/>
                        </a:spcBef>
                        <a:spcAft>
                          <a:spcPts val="0"/>
                        </a:spcAft>
                        <a:buNone/>
                      </a:pPr>
                      <a:r>
                        <a:rPr b="1" lang="en-US" sz="1200"/>
                        <a:t>Classification Models</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Severity prediction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Decision Trees, SVM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5025">
                <a:tc>
                  <a:txBody>
                    <a:bodyPr/>
                    <a:lstStyle/>
                    <a:p>
                      <a:pPr indent="0" lvl="0" marL="0" marR="0" rtl="0" algn="l">
                        <a:spcBef>
                          <a:spcPts val="0"/>
                        </a:spcBef>
                        <a:spcAft>
                          <a:spcPts val="0"/>
                        </a:spcAft>
                        <a:buNone/>
                      </a:pPr>
                      <a:r>
                        <a:rPr b="1" lang="en-US" sz="1200"/>
                        <a:t>Deep Learning</a:t>
                      </a:r>
                      <a:endParaRPr sz="12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Large-scale prediction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rPr>
                        <a:t>TensorFlow, Neural Networks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mc:AlternateContent>
    <mc:Choice Requires="p14">
      <p:transition>
        <p14:prism dir="l"/>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2"/>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7407"/>
              </a:lnSpc>
              <a:spcBef>
                <a:spcPts val="0"/>
              </a:spcBef>
              <a:spcAft>
                <a:spcPts val="0"/>
              </a:spcAft>
              <a:buClr>
                <a:srgbClr val="002060"/>
              </a:buClr>
              <a:buSzPct val="100000"/>
              <a:buFont typeface="Palatino Linotype"/>
              <a:buNone/>
            </a:pPr>
            <a:r>
              <a:rPr b="1" lang="en-US">
                <a:solidFill>
                  <a:srgbClr val="002060"/>
                </a:solidFill>
                <a:latin typeface="Palatino Linotype"/>
                <a:ea typeface="Palatino Linotype"/>
                <a:cs typeface="Palatino Linotype"/>
                <a:sym typeface="Palatino Linotype"/>
              </a:rPr>
              <a:t>Model Selection &amp; Implementation</a:t>
            </a:r>
            <a:br>
              <a:rPr b="1" lang="en-US">
                <a:latin typeface="Palatino Linotype"/>
                <a:ea typeface="Palatino Linotype"/>
                <a:cs typeface="Palatino Linotype"/>
                <a:sym typeface="Palatino Linotype"/>
              </a:rPr>
            </a:br>
            <a:endParaRPr b="1">
              <a:latin typeface="Palatino Linotype"/>
              <a:ea typeface="Palatino Linotype"/>
              <a:cs typeface="Palatino Linotype"/>
              <a:sym typeface="Palatino Linotype"/>
            </a:endParaRPr>
          </a:p>
        </p:txBody>
      </p:sp>
      <p:sp>
        <p:nvSpPr>
          <p:cNvPr id="223" name="Google Shape;223;p22"/>
          <p:cNvSpPr txBox="1"/>
          <p:nvPr>
            <p:ph idx="1" type="body"/>
          </p:nvPr>
        </p:nvSpPr>
        <p:spPr>
          <a:xfrm>
            <a:off x="457200" y="990600"/>
            <a:ext cx="8229600" cy="51355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7F7F7F"/>
              </a:buClr>
              <a:buSzPts val="2000"/>
              <a:buChar char="•"/>
            </a:pPr>
            <a:r>
              <a:rPr b="1" lang="en-US" sz="2000"/>
              <a:t>Chosen models: </a:t>
            </a:r>
            <a:endParaRPr b="1" sz="2000"/>
          </a:p>
          <a:p>
            <a:pPr indent="-342900" lvl="0" marL="342900" rtl="0" algn="l">
              <a:spcBef>
                <a:spcPts val="280"/>
              </a:spcBef>
              <a:spcAft>
                <a:spcPts val="0"/>
              </a:spcAft>
              <a:buClr>
                <a:srgbClr val="7F7F7F"/>
              </a:buClr>
              <a:buSzPts val="1400"/>
              <a:buFont typeface="Century Gothic"/>
              <a:buAutoNum type="arabicPeriod"/>
            </a:pPr>
            <a:r>
              <a:rPr b="1" lang="en-US" sz="1400"/>
              <a:t>Linear Regression: </a:t>
            </a:r>
            <a:r>
              <a:rPr lang="en-US" sz="1400"/>
              <a:t>Used for basic trend prediction and understanding linear relationships between Covid-19 cases over time</a:t>
            </a:r>
            <a:r>
              <a:rPr b="1" lang="en-US" sz="1400"/>
              <a:t>.</a:t>
            </a:r>
            <a:endParaRPr/>
          </a:p>
          <a:p>
            <a:pPr indent="-342900" lvl="0" marL="342900" rtl="0" algn="l">
              <a:spcBef>
                <a:spcPts val="280"/>
              </a:spcBef>
              <a:spcAft>
                <a:spcPts val="0"/>
              </a:spcAft>
              <a:buClr>
                <a:srgbClr val="7F7F7F"/>
              </a:buClr>
              <a:buSzPts val="1400"/>
              <a:buFont typeface="Century Gothic"/>
              <a:buAutoNum type="arabicPeriod"/>
            </a:pPr>
            <a:r>
              <a:rPr b="1" lang="en-US" sz="1400"/>
              <a:t>LSTM (Long Short-Term Memory): </a:t>
            </a:r>
            <a:r>
              <a:rPr lang="en-US" sz="1400"/>
              <a:t>A deep learning model ideal for time-series forecasting, capturing long-term dependencies in Covid-19 trends</a:t>
            </a:r>
            <a:r>
              <a:rPr b="1" lang="en-US" sz="1400"/>
              <a:t>.</a:t>
            </a:r>
            <a:endParaRPr/>
          </a:p>
          <a:p>
            <a:pPr indent="-342900" lvl="0" marL="342900" rtl="0" algn="l">
              <a:spcBef>
                <a:spcPts val="280"/>
              </a:spcBef>
              <a:spcAft>
                <a:spcPts val="0"/>
              </a:spcAft>
              <a:buClr>
                <a:srgbClr val="7F7F7F"/>
              </a:buClr>
              <a:buSzPts val="1400"/>
              <a:buFont typeface="Century Gothic"/>
              <a:buAutoNum type="arabicPeriod"/>
            </a:pPr>
            <a:r>
              <a:rPr b="1" lang="en-US" sz="1400"/>
              <a:t>Random Forest: </a:t>
            </a:r>
            <a:r>
              <a:rPr lang="en-US" sz="1400"/>
              <a:t>A robust ensemble learning method that improves prediction accuracy by reducing overfitting and handling non-linear relationships in the data.</a:t>
            </a:r>
            <a:endParaRPr sz="1400"/>
          </a:p>
          <a:p>
            <a:pPr indent="-342900" lvl="0" marL="342900" rtl="0" algn="l">
              <a:spcBef>
                <a:spcPts val="400"/>
              </a:spcBef>
              <a:spcAft>
                <a:spcPts val="0"/>
              </a:spcAft>
              <a:buClr>
                <a:srgbClr val="7F7F7F"/>
              </a:buClr>
              <a:buSzPts val="2000"/>
              <a:buChar char="•"/>
            </a:pPr>
            <a:r>
              <a:rPr b="1" lang="en-US" sz="2000"/>
              <a:t>Justification for model selection:</a:t>
            </a:r>
            <a:endParaRPr/>
          </a:p>
          <a:p>
            <a:pPr indent="-457200" lvl="0" marL="457200" rtl="0" algn="l">
              <a:spcBef>
                <a:spcPts val="280"/>
              </a:spcBef>
              <a:spcAft>
                <a:spcPts val="0"/>
              </a:spcAft>
              <a:buClr>
                <a:srgbClr val="7F7F7F"/>
              </a:buClr>
              <a:buSzPts val="1400"/>
              <a:buFont typeface="Century Gothic"/>
              <a:buAutoNum type="arabicPeriod"/>
            </a:pPr>
            <a:r>
              <a:rPr b="1" lang="en-US" sz="1400"/>
              <a:t>Linear Regression</a:t>
            </a:r>
            <a:r>
              <a:rPr lang="en-US" sz="1400"/>
              <a:t>: Provides a simple and interpretable baseline model.</a:t>
            </a:r>
            <a:endParaRPr/>
          </a:p>
          <a:p>
            <a:pPr indent="-457200" lvl="0" marL="457200" rtl="0" algn="l">
              <a:spcBef>
                <a:spcPts val="280"/>
              </a:spcBef>
              <a:spcAft>
                <a:spcPts val="0"/>
              </a:spcAft>
              <a:buClr>
                <a:srgbClr val="7F7F7F"/>
              </a:buClr>
              <a:buSzPts val="1400"/>
              <a:buFont typeface="Century Gothic"/>
              <a:buAutoNum type="arabicPeriod"/>
            </a:pPr>
            <a:r>
              <a:rPr b="1" lang="en-US" sz="1400"/>
              <a:t>LSTM</a:t>
            </a:r>
            <a:r>
              <a:rPr lang="en-US" sz="1400"/>
              <a:t>: Handles sequential dependencies and improves accuracy for time-series forecasting.</a:t>
            </a:r>
            <a:endParaRPr/>
          </a:p>
          <a:p>
            <a:pPr indent="-457200" lvl="0" marL="457200" rtl="0" algn="l">
              <a:spcBef>
                <a:spcPts val="280"/>
              </a:spcBef>
              <a:spcAft>
                <a:spcPts val="0"/>
              </a:spcAft>
              <a:buClr>
                <a:srgbClr val="7F7F7F"/>
              </a:buClr>
              <a:buSzPts val="1400"/>
              <a:buFont typeface="Century Gothic"/>
              <a:buAutoNum type="arabicPeriod"/>
            </a:pPr>
            <a:r>
              <a:rPr b="1" lang="en-US" sz="1400"/>
              <a:t>Random Forest</a:t>
            </a:r>
            <a:r>
              <a:rPr lang="en-US" sz="1400"/>
              <a:t>: Effective for handling complex patterns and feature interactions in Covid-19 data.</a:t>
            </a:r>
            <a:endParaRPr b="1" sz="1400"/>
          </a:p>
          <a:p>
            <a:pPr indent="-342900" lvl="0" marL="342900" rtl="0" algn="l">
              <a:spcBef>
                <a:spcPts val="400"/>
              </a:spcBef>
              <a:spcAft>
                <a:spcPts val="0"/>
              </a:spcAft>
              <a:buClr>
                <a:srgbClr val="7F7F7F"/>
              </a:buClr>
              <a:buSzPts val="2000"/>
              <a:buChar char="•"/>
            </a:pPr>
            <a:r>
              <a:rPr b="1" lang="en-US" sz="2000"/>
              <a:t>Tools Used:</a:t>
            </a:r>
            <a:endParaRPr/>
          </a:p>
          <a:p>
            <a:pPr indent="-342900" lvl="0" marL="342900" rtl="0" algn="l">
              <a:spcBef>
                <a:spcPts val="280"/>
              </a:spcBef>
              <a:spcAft>
                <a:spcPts val="0"/>
              </a:spcAft>
              <a:buClr>
                <a:srgbClr val="7F7F7F"/>
              </a:buClr>
              <a:buSzPts val="1400"/>
              <a:buFont typeface="Century Gothic"/>
              <a:buAutoNum type="arabicPeriod"/>
            </a:pPr>
            <a:r>
              <a:rPr b="1" lang="en-US" sz="1400"/>
              <a:t>TensorFlow: </a:t>
            </a:r>
            <a:r>
              <a:rPr lang="en-US" sz="1400"/>
              <a:t>Used for building and training the LSTM model for time-series forecasting.</a:t>
            </a:r>
            <a:endParaRPr/>
          </a:p>
          <a:p>
            <a:pPr indent="-342900" lvl="0" marL="342900" rtl="0" algn="l">
              <a:spcBef>
                <a:spcPts val="280"/>
              </a:spcBef>
              <a:spcAft>
                <a:spcPts val="0"/>
              </a:spcAft>
              <a:buClr>
                <a:srgbClr val="7F7F7F"/>
              </a:buClr>
              <a:buSzPts val="1400"/>
              <a:buFont typeface="Century Gothic"/>
              <a:buAutoNum type="arabicPeriod"/>
            </a:pPr>
            <a:r>
              <a:rPr b="1" lang="en-US" sz="1400"/>
              <a:t>Pandas: </a:t>
            </a:r>
            <a:r>
              <a:rPr lang="en-US" sz="1400"/>
              <a:t>Data preprocessing, manipulation, and feature engineering.</a:t>
            </a:r>
            <a:endParaRPr/>
          </a:p>
          <a:p>
            <a:pPr indent="-342900" lvl="0" marL="342900" rtl="0" algn="l">
              <a:spcBef>
                <a:spcPts val="280"/>
              </a:spcBef>
              <a:spcAft>
                <a:spcPts val="0"/>
              </a:spcAft>
              <a:buClr>
                <a:srgbClr val="7F7F7F"/>
              </a:buClr>
              <a:buSzPts val="1400"/>
              <a:buFont typeface="Century Gothic"/>
              <a:buAutoNum type="arabicPeriod"/>
            </a:pPr>
            <a:r>
              <a:rPr b="1" lang="en-US" sz="1400"/>
              <a:t>Matplotlib: </a:t>
            </a:r>
            <a:r>
              <a:rPr lang="en-US" sz="1400"/>
              <a:t>Visualization of Covid-19 trends, model predictions, and comparison of results.</a:t>
            </a:r>
            <a:endParaRPr sz="1400"/>
          </a:p>
        </p:txBody>
      </p:sp>
    </p:spTree>
  </p:cSld>
  <p:clrMapOvr>
    <a:masterClrMapping/>
  </p:clrMapOvr>
  <mc:AlternateContent>
    <mc:Choice Requires="p14">
      <p:transition spd="med">
        <p14:reveal dir="l"/>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3"/>
          <p:cNvSpPr txBox="1"/>
          <p:nvPr>
            <p:ph type="title"/>
          </p:nvPr>
        </p:nvSpPr>
        <p:spPr>
          <a:xfrm>
            <a:off x="457200" y="0"/>
            <a:ext cx="8229600" cy="1981200"/>
          </a:xfrm>
          <a:prstGeom prst="rect">
            <a:avLst/>
          </a:prstGeom>
          <a:noFill/>
          <a:ln>
            <a:noFill/>
          </a:ln>
        </p:spPr>
        <p:txBody>
          <a:bodyPr anchorCtr="0" anchor="b" bIns="45700" lIns="91425" spcFirstLastPara="1" rIns="91425" wrap="square" tIns="45700">
            <a:normAutofit/>
          </a:bodyPr>
          <a:lstStyle/>
          <a:p>
            <a:pPr indent="0" lvl="0" marL="0" rtl="0" algn="ctr">
              <a:lnSpc>
                <a:spcPct val="107407"/>
              </a:lnSpc>
              <a:spcBef>
                <a:spcPts val="0"/>
              </a:spcBef>
              <a:spcAft>
                <a:spcPts val="0"/>
              </a:spcAft>
              <a:buClr>
                <a:srgbClr val="002060"/>
              </a:buClr>
              <a:buSzPts val="4000"/>
              <a:buFont typeface="Palatino Linotype"/>
              <a:buNone/>
            </a:pPr>
            <a:r>
              <a:rPr b="1" lang="en-US" sz="4000">
                <a:solidFill>
                  <a:srgbClr val="002060"/>
                </a:solidFill>
                <a:latin typeface="Palatino Linotype"/>
                <a:ea typeface="Palatino Linotype"/>
                <a:cs typeface="Palatino Linotype"/>
                <a:sym typeface="Palatino Linotype"/>
              </a:rPr>
              <a:t>Model Training &amp; Evaluation</a:t>
            </a:r>
            <a:br>
              <a:rPr b="1" lang="en-US">
                <a:latin typeface="Palatino Linotype"/>
                <a:ea typeface="Palatino Linotype"/>
                <a:cs typeface="Palatino Linotype"/>
                <a:sym typeface="Palatino Linotype"/>
              </a:rPr>
            </a:br>
            <a:endParaRPr b="1">
              <a:latin typeface="Palatino Linotype"/>
              <a:ea typeface="Palatino Linotype"/>
              <a:cs typeface="Palatino Linotype"/>
              <a:sym typeface="Palatino Linotype"/>
            </a:endParaRPr>
          </a:p>
        </p:txBody>
      </p:sp>
      <p:sp>
        <p:nvSpPr>
          <p:cNvPr id="229" name="Google Shape;229;p23"/>
          <p:cNvSpPr txBox="1"/>
          <p:nvPr>
            <p:ph idx="1" type="body"/>
          </p:nvPr>
        </p:nvSpPr>
        <p:spPr>
          <a:xfrm>
            <a:off x="457200" y="2133600"/>
            <a:ext cx="8229600" cy="4495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7F7F7F"/>
              </a:buClr>
              <a:buSzPts val="2000"/>
              <a:buChar char="•"/>
            </a:pPr>
            <a:r>
              <a:rPr b="1" lang="en-US" sz="2000"/>
              <a:t>Data splitting: </a:t>
            </a:r>
            <a:r>
              <a:rPr lang="en-US" sz="1400"/>
              <a:t>Dataset divided into Train (80%) and Test (20%) for effective learning and validation.</a:t>
            </a:r>
            <a:endParaRPr/>
          </a:p>
          <a:p>
            <a:pPr indent="0" lvl="0" marL="0" rtl="0" algn="l">
              <a:spcBef>
                <a:spcPts val="280"/>
              </a:spcBef>
              <a:spcAft>
                <a:spcPts val="0"/>
              </a:spcAft>
              <a:buClr>
                <a:srgbClr val="7F7F7F"/>
              </a:buClr>
              <a:buSzPts val="1400"/>
              <a:buNone/>
            </a:pPr>
            <a:r>
              <a:rPr lang="en-US" sz="1400"/>
              <a:t>  Training set used to fit models, test set used for performance evaluation.</a:t>
            </a:r>
            <a:endParaRPr sz="1400"/>
          </a:p>
          <a:p>
            <a:pPr indent="-342900" lvl="0" marL="342900" rtl="0" algn="l">
              <a:spcBef>
                <a:spcPts val="400"/>
              </a:spcBef>
              <a:spcAft>
                <a:spcPts val="0"/>
              </a:spcAft>
              <a:buClr>
                <a:srgbClr val="7F7F7F"/>
              </a:buClr>
              <a:buSzPts val="2000"/>
              <a:buChar char="•"/>
            </a:pPr>
            <a:r>
              <a:rPr b="1" lang="en-US" sz="2000"/>
              <a:t>Performance :</a:t>
            </a:r>
            <a:endParaRPr sz="1400"/>
          </a:p>
          <a:p>
            <a:pPr indent="-342900" lvl="0" marL="342900" rtl="0" algn="l">
              <a:spcBef>
                <a:spcPts val="280"/>
              </a:spcBef>
              <a:spcAft>
                <a:spcPts val="0"/>
              </a:spcAft>
              <a:buClr>
                <a:srgbClr val="7F7F7F"/>
              </a:buClr>
              <a:buSzPts val="1400"/>
              <a:buChar char="•"/>
            </a:pPr>
            <a:r>
              <a:rPr lang="en-US" sz="1400"/>
              <a:t>Mean Absolute Error (MAE)  Measures average absolute differences between actual and predicted values.</a:t>
            </a:r>
            <a:endParaRPr/>
          </a:p>
          <a:p>
            <a:pPr indent="-342900" lvl="0" marL="342900" rtl="0" algn="l">
              <a:spcBef>
                <a:spcPts val="280"/>
              </a:spcBef>
              <a:spcAft>
                <a:spcPts val="0"/>
              </a:spcAft>
              <a:buClr>
                <a:srgbClr val="7F7F7F"/>
              </a:buClr>
              <a:buSzPts val="1400"/>
              <a:buChar char="•"/>
            </a:pPr>
            <a:r>
              <a:rPr lang="en-US" sz="1400"/>
              <a:t>Mean Squared Error (MSE)  Penalizes larger errors, providing overall accuracy assessment.</a:t>
            </a:r>
            <a:endParaRPr/>
          </a:p>
          <a:p>
            <a:pPr indent="-342900" lvl="0" marL="342900" rtl="0" algn="l">
              <a:spcBef>
                <a:spcPts val="280"/>
              </a:spcBef>
              <a:spcAft>
                <a:spcPts val="0"/>
              </a:spcAft>
              <a:buClr>
                <a:srgbClr val="7F7F7F"/>
              </a:buClr>
              <a:buSzPts val="1400"/>
              <a:buChar char="•"/>
            </a:pPr>
            <a:r>
              <a:rPr lang="en-US" sz="1400"/>
              <a:t>Root Mean Squared Error (RMSE)  Helps interpret errors in real-world terms.</a:t>
            </a:r>
            <a:endParaRPr sz="1400"/>
          </a:p>
          <a:p>
            <a:pPr indent="-342900" lvl="0" marL="342900" rtl="0" algn="l">
              <a:spcBef>
                <a:spcPts val="400"/>
              </a:spcBef>
              <a:spcAft>
                <a:spcPts val="0"/>
              </a:spcAft>
              <a:buClr>
                <a:srgbClr val="7F7F7F"/>
              </a:buClr>
              <a:buSzPts val="2000"/>
              <a:buChar char="•"/>
            </a:pPr>
            <a:r>
              <a:rPr b="1" lang="en-US" sz="2000"/>
              <a:t>Comparison of models based on accuracy:</a:t>
            </a:r>
            <a:endParaRPr/>
          </a:p>
          <a:p>
            <a:pPr indent="-342900" lvl="0" marL="342900" rtl="0" algn="l">
              <a:spcBef>
                <a:spcPts val="400"/>
              </a:spcBef>
              <a:spcAft>
                <a:spcPts val="0"/>
              </a:spcAft>
              <a:buClr>
                <a:srgbClr val="7F7F7F"/>
              </a:buClr>
              <a:buSzPts val="2000"/>
              <a:buChar char="•"/>
            </a:pPr>
            <a:r>
              <a:rPr b="1" lang="en-US" sz="2000"/>
              <a:t> </a:t>
            </a:r>
            <a:r>
              <a:rPr lang="en-US" sz="1400"/>
              <a:t>Linear Regression  Simple, interpretable, but limited for complex trends.</a:t>
            </a:r>
            <a:endParaRPr/>
          </a:p>
          <a:p>
            <a:pPr indent="-342900" lvl="0" marL="342900" rtl="0" algn="l">
              <a:spcBef>
                <a:spcPts val="280"/>
              </a:spcBef>
              <a:spcAft>
                <a:spcPts val="0"/>
              </a:spcAft>
              <a:buClr>
                <a:srgbClr val="7F7F7F"/>
              </a:buClr>
              <a:buSzPts val="1400"/>
              <a:buChar char="•"/>
            </a:pPr>
            <a:r>
              <a:rPr lang="en-US" sz="1400"/>
              <a:t>LSTM (Long Short-Term Memory)  Best for capturing time-series dependencies, showing higher accuracy. </a:t>
            </a:r>
            <a:endParaRPr sz="1400"/>
          </a:p>
          <a:p>
            <a:pPr indent="-342900" lvl="0" marL="342900" rtl="0" algn="l">
              <a:spcBef>
                <a:spcPts val="280"/>
              </a:spcBef>
              <a:spcAft>
                <a:spcPts val="0"/>
              </a:spcAft>
              <a:buClr>
                <a:srgbClr val="7F7F7F"/>
              </a:buClr>
              <a:buSzPts val="1400"/>
              <a:buChar char="•"/>
            </a:pPr>
            <a:r>
              <a:rPr lang="en-US" sz="1400"/>
              <a:t>Random Forest  Handles non-linear relationships well but is computationally intensive.</a:t>
            </a:r>
            <a:endParaRPr/>
          </a:p>
          <a:p>
            <a:pPr indent="-342900" lvl="0" marL="342900" rtl="0" algn="l">
              <a:spcBef>
                <a:spcPts val="280"/>
              </a:spcBef>
              <a:spcAft>
                <a:spcPts val="0"/>
              </a:spcAft>
              <a:buClr>
                <a:srgbClr val="7F7F7F"/>
              </a:buClr>
              <a:buSzPts val="1400"/>
              <a:buChar char="•"/>
            </a:pPr>
            <a:r>
              <a:rPr lang="en-US" sz="1400"/>
              <a:t>Final Model Selection: Chosen based on lower RMSE &amp; MAE, ensuring better generalization.</a:t>
            </a:r>
            <a:endParaRPr sz="1400"/>
          </a:p>
          <a:p>
            <a:pPr indent="-190500" lvl="0" marL="342900" rtl="0" algn="l">
              <a:spcBef>
                <a:spcPts val="480"/>
              </a:spcBef>
              <a:spcAft>
                <a:spcPts val="0"/>
              </a:spcAft>
              <a:buClr>
                <a:srgbClr val="7F7F7F"/>
              </a:buClr>
              <a:buSzPts val="2400"/>
              <a:buNone/>
            </a:pPr>
            <a:r>
              <a:t/>
            </a:r>
            <a:endParaRPr/>
          </a:p>
        </p:txBody>
      </p:sp>
    </p:spTree>
  </p:cSld>
  <p:clrMapOvr>
    <a:masterClrMapping/>
  </p:clrMapOvr>
  <mc:AlternateContent>
    <mc:Choice Requires="p14">
      <p:transition>
        <p14:gallery dir="l"/>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145000"/>
              </a:lnSpc>
              <a:spcBef>
                <a:spcPts val="0"/>
              </a:spcBef>
              <a:spcAft>
                <a:spcPts val="0"/>
              </a:spcAft>
              <a:buClr>
                <a:srgbClr val="002060"/>
              </a:buClr>
              <a:buSzPts val="4000"/>
              <a:buFont typeface="Palatino Linotype"/>
              <a:buNone/>
            </a:pPr>
            <a:r>
              <a:rPr b="1" lang="en-US" sz="4000">
                <a:solidFill>
                  <a:srgbClr val="002060"/>
                </a:solidFill>
                <a:latin typeface="Palatino Linotype"/>
                <a:ea typeface="Palatino Linotype"/>
                <a:cs typeface="Palatino Linotype"/>
                <a:sym typeface="Palatino Linotype"/>
              </a:rPr>
              <a:t>Prediction Results &amp; Visualization</a:t>
            </a:r>
            <a:br>
              <a:rPr b="1" lang="en-US" sz="4000">
                <a:latin typeface="Palatino Linotype"/>
                <a:ea typeface="Palatino Linotype"/>
                <a:cs typeface="Palatino Linotype"/>
                <a:sym typeface="Palatino Linotype"/>
              </a:rPr>
            </a:br>
            <a:endParaRPr b="1" sz="4000">
              <a:latin typeface="Palatino Linotype"/>
              <a:ea typeface="Palatino Linotype"/>
              <a:cs typeface="Palatino Linotype"/>
              <a:sym typeface="Palatino Linotype"/>
            </a:endParaRPr>
          </a:p>
        </p:txBody>
      </p:sp>
      <p:sp>
        <p:nvSpPr>
          <p:cNvPr id="235" name="Google Shape;235;p24"/>
          <p:cNvSpPr txBox="1"/>
          <p:nvPr>
            <p:ph idx="1" type="body"/>
          </p:nvPr>
        </p:nvSpPr>
        <p:spPr>
          <a:xfrm>
            <a:off x="457200" y="1143000"/>
            <a:ext cx="8229600" cy="144780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7F7F7F"/>
              </a:buClr>
              <a:buSzPts val="2400"/>
              <a:buNone/>
            </a:pPr>
            <a:r>
              <a:rPr b="1" lang="en-US"/>
              <a:t>Predicted vs. actual Covid-19 cases (graphs)</a:t>
            </a:r>
            <a:endParaRPr/>
          </a:p>
          <a:p>
            <a:pPr indent="0" lvl="0" marL="0" rtl="0" algn="l">
              <a:spcBef>
                <a:spcPts val="480"/>
              </a:spcBef>
              <a:spcAft>
                <a:spcPts val="0"/>
              </a:spcAft>
              <a:buClr>
                <a:srgbClr val="7F7F7F"/>
              </a:buClr>
              <a:buSzPts val="2400"/>
              <a:buNone/>
            </a:pPr>
            <a:r>
              <a:t/>
            </a:r>
            <a:endParaRPr/>
          </a:p>
          <a:p>
            <a:pPr indent="0" lvl="0" marL="0" rtl="0" algn="l">
              <a:spcBef>
                <a:spcPts val="480"/>
              </a:spcBef>
              <a:spcAft>
                <a:spcPts val="0"/>
              </a:spcAft>
              <a:buClr>
                <a:srgbClr val="7F7F7F"/>
              </a:buClr>
              <a:buSzPts val="2400"/>
              <a:buNone/>
            </a:pPr>
            <a:r>
              <a:rPr lang="en-US"/>
              <a:t> </a:t>
            </a:r>
            <a:endParaRPr/>
          </a:p>
          <a:p>
            <a:pPr indent="-190500" lvl="0" marL="342900" rtl="0" algn="l">
              <a:spcBef>
                <a:spcPts val="480"/>
              </a:spcBef>
              <a:spcAft>
                <a:spcPts val="0"/>
              </a:spcAft>
              <a:buClr>
                <a:srgbClr val="7F7F7F"/>
              </a:buClr>
              <a:buSzPts val="2400"/>
              <a:buNone/>
            </a:pPr>
            <a:r>
              <a:t/>
            </a:r>
            <a:endParaRPr/>
          </a:p>
        </p:txBody>
      </p:sp>
      <p:sp>
        <p:nvSpPr>
          <p:cNvPr id="236" name="Google Shape;236;p24"/>
          <p:cNvSpPr/>
          <p:nvPr/>
        </p:nvSpPr>
        <p:spPr>
          <a:xfrm>
            <a:off x="228600" y="1828800"/>
            <a:ext cx="8686800" cy="4876800"/>
          </a:xfrm>
          <a:prstGeom prst="rect">
            <a:avLst/>
          </a:prstGeom>
          <a:blipFill rotWithShape="1">
            <a:blip r:embed="rId3">
              <a:alphaModFix/>
            </a:blip>
            <a:stretch>
              <a:fillRect b="0" l="0" r="0" t="0"/>
            </a:stretch>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p14:flash/>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5"/>
          <p:cNvPicPr preferRelativeResize="0"/>
          <p:nvPr>
            <p:ph idx="1" type="body"/>
          </p:nvPr>
        </p:nvPicPr>
        <p:blipFill rotWithShape="1">
          <a:blip r:embed="rId3">
            <a:alphaModFix/>
          </a:blip>
          <a:srcRect b="0" l="0" r="0" t="0"/>
          <a:stretch/>
        </p:blipFill>
        <p:spPr>
          <a:xfrm>
            <a:off x="152400" y="1157071"/>
            <a:ext cx="8686800" cy="4315257"/>
          </a:xfrm>
          <a:prstGeom prst="rect">
            <a:avLst/>
          </a:prstGeom>
          <a:noFill/>
          <a:ln>
            <a:noFill/>
          </a:ln>
        </p:spPr>
      </p:pic>
    </p:spTree>
  </p:cSld>
  <p:clrMapOvr>
    <a:masterClrMapping/>
  </p:clrMapOvr>
  <p:transition p14:dur="250">
    <p:circl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6"/>
          <p:cNvPicPr preferRelativeResize="0"/>
          <p:nvPr>
            <p:ph idx="1" type="body"/>
          </p:nvPr>
        </p:nvPicPr>
        <p:blipFill rotWithShape="1">
          <a:blip r:embed="rId3">
            <a:alphaModFix/>
          </a:blip>
          <a:srcRect b="0" l="0" r="0" t="0"/>
          <a:stretch/>
        </p:blipFill>
        <p:spPr>
          <a:xfrm>
            <a:off x="464252" y="1600200"/>
            <a:ext cx="8215495" cy="4525963"/>
          </a:xfrm>
          <a:prstGeom prst="rect">
            <a:avLst/>
          </a:prstGeom>
          <a:noFill/>
          <a:ln>
            <a:noFill/>
          </a:ln>
        </p:spPr>
      </p:pic>
    </p:spTree>
  </p:cSld>
  <p:clrMapOvr>
    <a:masterClrMapping/>
  </p:clrMapOvr>
  <mc:AlternateContent>
    <mc:Choice Requires="p14">
      <p:transition p14:dur="250">
        <p:fade thruBlk="1"/>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a:bodyPr>
          <a:lstStyle/>
          <a:p>
            <a:pPr indent="0" lvl="0" marL="0" rtl="0" algn="ctr">
              <a:lnSpc>
                <a:spcPct val="207142"/>
              </a:lnSpc>
              <a:spcBef>
                <a:spcPts val="0"/>
              </a:spcBef>
              <a:spcAft>
                <a:spcPts val="0"/>
              </a:spcAft>
              <a:buClr>
                <a:srgbClr val="002060"/>
              </a:buClr>
              <a:buSzPts val="2800"/>
              <a:buFont typeface="Palatino Linotype"/>
              <a:buNone/>
            </a:pPr>
            <a:r>
              <a:rPr b="1" lang="en-US" sz="2800">
                <a:solidFill>
                  <a:srgbClr val="002060"/>
                </a:solidFill>
              </a:rPr>
              <a:t>Bangladesh Division wise cases  Result</a:t>
            </a:r>
            <a:endParaRPr b="1" sz="2800">
              <a:solidFill>
                <a:srgbClr val="002060"/>
              </a:solidFill>
            </a:endParaRPr>
          </a:p>
        </p:txBody>
      </p:sp>
      <p:pic>
        <p:nvPicPr>
          <p:cNvPr id="252" name="Google Shape;252;p27"/>
          <p:cNvPicPr preferRelativeResize="0"/>
          <p:nvPr>
            <p:ph idx="1" type="body"/>
          </p:nvPr>
        </p:nvPicPr>
        <p:blipFill rotWithShape="1">
          <a:blip r:embed="rId3">
            <a:alphaModFix/>
          </a:blip>
          <a:srcRect b="0" l="0" r="0" t="0"/>
          <a:stretch/>
        </p:blipFill>
        <p:spPr>
          <a:xfrm>
            <a:off x="457200" y="1819112"/>
            <a:ext cx="8229600" cy="4088138"/>
          </a:xfrm>
          <a:prstGeom prst="rect">
            <a:avLst/>
          </a:prstGeom>
          <a:noFill/>
          <a:ln>
            <a:noFill/>
          </a:ln>
        </p:spPr>
      </p:pic>
    </p:spTree>
  </p:cSld>
  <p:clrMapOvr>
    <a:masterClrMapping/>
  </p:clrMapOvr>
  <p:transition p14:dur="250">
    <p:blinds dir="ver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81250"/>
              </a:lnSpc>
              <a:spcBef>
                <a:spcPts val="0"/>
              </a:spcBef>
              <a:spcAft>
                <a:spcPts val="0"/>
              </a:spcAft>
              <a:buClr>
                <a:srgbClr val="002060"/>
              </a:buClr>
              <a:buSzPct val="100000"/>
              <a:buFont typeface="Palatino Linotype"/>
              <a:buNone/>
            </a:pPr>
            <a:r>
              <a:rPr b="1" lang="en-US" sz="3200">
                <a:solidFill>
                  <a:srgbClr val="002060"/>
                </a:solidFill>
                <a:latin typeface="Palatino Linotype"/>
                <a:ea typeface="Palatino Linotype"/>
                <a:cs typeface="Palatino Linotype"/>
                <a:sym typeface="Palatino Linotype"/>
              </a:rPr>
              <a:t>Trends observed for Bangladesh vs. global data</a:t>
            </a:r>
            <a:br>
              <a:rPr b="1" lang="en-US" sz="2000">
                <a:latin typeface="Arial"/>
                <a:ea typeface="Arial"/>
                <a:cs typeface="Arial"/>
                <a:sym typeface="Arial"/>
              </a:rPr>
            </a:br>
            <a:endParaRPr b="1" sz="2000">
              <a:latin typeface="Arial"/>
              <a:ea typeface="Arial"/>
              <a:cs typeface="Arial"/>
              <a:sym typeface="Arial"/>
            </a:endParaRPr>
          </a:p>
        </p:txBody>
      </p:sp>
      <p:pic>
        <p:nvPicPr>
          <p:cNvPr id="258" name="Google Shape;258;p28"/>
          <p:cNvPicPr preferRelativeResize="0"/>
          <p:nvPr>
            <p:ph idx="1" type="body"/>
          </p:nvPr>
        </p:nvPicPr>
        <p:blipFill rotWithShape="1">
          <a:blip r:embed="rId3">
            <a:alphaModFix/>
          </a:blip>
          <a:srcRect b="0" l="0" r="0" t="0"/>
          <a:stretch/>
        </p:blipFill>
        <p:spPr>
          <a:xfrm>
            <a:off x="778630" y="1600200"/>
            <a:ext cx="7586740" cy="4525963"/>
          </a:xfrm>
          <a:prstGeom prst="rect">
            <a:avLst/>
          </a:prstGeom>
          <a:noFill/>
          <a:ln>
            <a:noFill/>
          </a:ln>
        </p:spPr>
      </p:pic>
    </p:spTree>
  </p:cSld>
  <p:clrMapOvr>
    <a:masterClrMapping/>
  </p:clrMapOvr>
  <p:transition p14:dur="250">
    <p:randomBar dir="ver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9"/>
          <p:cNvSpPr txBox="1"/>
          <p:nvPr>
            <p:ph type="title"/>
          </p:nvPr>
        </p:nvSpPr>
        <p:spPr>
          <a:xfrm>
            <a:off x="457200" y="0"/>
            <a:ext cx="8229600" cy="1600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7407"/>
              </a:lnSpc>
              <a:spcBef>
                <a:spcPts val="0"/>
              </a:spcBef>
              <a:spcAft>
                <a:spcPts val="0"/>
              </a:spcAft>
              <a:buClr>
                <a:srgbClr val="002060"/>
              </a:buClr>
              <a:buSzPct val="100000"/>
              <a:buFont typeface="Palatino Linotype"/>
              <a:buNone/>
            </a:pPr>
            <a:r>
              <a:rPr b="1" lang="en-US">
                <a:solidFill>
                  <a:srgbClr val="002060"/>
                </a:solidFill>
                <a:latin typeface="Palatino Linotype"/>
                <a:ea typeface="Palatino Linotype"/>
                <a:cs typeface="Palatino Linotype"/>
                <a:sym typeface="Palatino Linotype"/>
              </a:rPr>
              <a:t>Feature importance analysis</a:t>
            </a:r>
            <a:br>
              <a:rPr lang="en-US"/>
            </a:br>
            <a:endParaRPr/>
          </a:p>
        </p:txBody>
      </p:sp>
      <p:sp>
        <p:nvSpPr>
          <p:cNvPr id="264" name="Google Shape;264;p29"/>
          <p:cNvSpPr/>
          <p:nvPr/>
        </p:nvSpPr>
        <p:spPr>
          <a:xfrm>
            <a:off x="0" y="1219200"/>
            <a:ext cx="4563374" cy="4495800"/>
          </a:xfrm>
          <a:prstGeom prst="rect">
            <a:avLst/>
          </a:prstGeom>
          <a:blipFill rotWithShape="1">
            <a:blip r:embed="rId3">
              <a:alphaModFix/>
            </a:blip>
            <a:stretch>
              <a:fillRect b="0" l="0" r="0" t="0"/>
            </a:stretch>
          </a:blip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65" name="Google Shape;265;p29"/>
          <p:cNvSpPr/>
          <p:nvPr/>
        </p:nvSpPr>
        <p:spPr>
          <a:xfrm>
            <a:off x="4648200" y="1219200"/>
            <a:ext cx="4495800" cy="4495800"/>
          </a:xfrm>
          <a:prstGeom prst="rect">
            <a:avLst/>
          </a:prstGeom>
          <a:blipFill rotWithShape="1">
            <a:blip r:embed="rId4">
              <a:alphaModFix/>
            </a:blip>
            <a:stretch>
              <a:fillRect b="0" l="0" r="0" t="0"/>
            </a:stretch>
          </a:blip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p:transition spd="slow" p14:dur="1500">
    <p:split orient="ver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p:nvPr/>
        </p:nvSpPr>
        <p:spPr>
          <a:xfrm>
            <a:off x="152400" y="1219200"/>
            <a:ext cx="4267200" cy="4495800"/>
          </a:xfrm>
          <a:prstGeom prst="rect">
            <a:avLst/>
          </a:prstGeom>
          <a:blipFill rotWithShape="1">
            <a:blip r:embed="rId3">
              <a:alphaModFix/>
            </a:blip>
            <a:stretch>
              <a:fillRect b="0" l="0" r="0" t="0"/>
            </a:stretch>
          </a:blipFill>
          <a:ln cap="flat" cmpd="sng" w="2857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71" name="Google Shape;271;p30"/>
          <p:cNvSpPr/>
          <p:nvPr/>
        </p:nvSpPr>
        <p:spPr>
          <a:xfrm>
            <a:off x="4648200" y="1219200"/>
            <a:ext cx="4267200" cy="4495800"/>
          </a:xfrm>
          <a:prstGeom prst="rect">
            <a:avLst/>
          </a:prstGeom>
          <a:blipFill rotWithShape="1">
            <a:blip r:embed="rId4">
              <a:alphaModFix/>
            </a:blip>
            <a:stretch>
              <a:fillRect b="0" l="0" r="0" t="0"/>
            </a:stretch>
          </a:blipFill>
          <a:ln cap="flat" cmpd="sng" w="285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p:transition p14:dur="250">
    <p:randomBar dir="ver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p:nvPr/>
        </p:nvSpPr>
        <p:spPr>
          <a:xfrm>
            <a:off x="152400" y="1219200"/>
            <a:ext cx="4267200" cy="4495800"/>
          </a:xfrm>
          <a:prstGeom prst="rect">
            <a:avLst/>
          </a:prstGeom>
          <a:blipFill rotWithShape="1">
            <a:blip r:embed="rId3">
              <a:alphaModFix/>
            </a:blip>
            <a:stretch>
              <a:fillRect b="0" l="0" r="0" t="0"/>
            </a:stretch>
          </a:blipFill>
          <a:ln cap="flat" cmpd="sng" w="2857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77" name="Google Shape;277;p31"/>
          <p:cNvSpPr/>
          <p:nvPr/>
        </p:nvSpPr>
        <p:spPr>
          <a:xfrm>
            <a:off x="4648200" y="1219200"/>
            <a:ext cx="4267200" cy="4495800"/>
          </a:xfrm>
          <a:prstGeom prst="rect">
            <a:avLst/>
          </a:prstGeom>
          <a:blipFill rotWithShape="1">
            <a:blip r:embed="rId4">
              <a:alphaModFix/>
            </a:blip>
            <a:stretch>
              <a:fillRect b="0" l="0" r="0" t="0"/>
            </a:stretch>
          </a:blipFill>
          <a:ln cap="flat" cmpd="sng" w="285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2"/>
          <p:cNvSpPr txBox="1"/>
          <p:nvPr>
            <p:ph type="title"/>
          </p:nvPr>
        </p:nvSpPr>
        <p:spPr>
          <a:xfrm>
            <a:off x="457200" y="76200"/>
            <a:ext cx="8229600" cy="1371600"/>
          </a:xfrm>
          <a:prstGeom prst="rect">
            <a:avLst/>
          </a:prstGeom>
          <a:noFill/>
          <a:ln>
            <a:noFill/>
          </a:ln>
        </p:spPr>
        <p:txBody>
          <a:bodyPr anchorCtr="0" anchor="b" bIns="45700" lIns="91425" spcFirstLastPara="1" rIns="91425" wrap="square" tIns="45700">
            <a:noAutofit/>
          </a:bodyPr>
          <a:lstStyle/>
          <a:p>
            <a:pPr indent="0" lvl="0" marL="0" rtl="0" algn="ctr">
              <a:lnSpc>
                <a:spcPct val="145000"/>
              </a:lnSpc>
              <a:spcBef>
                <a:spcPts val="0"/>
              </a:spcBef>
              <a:spcAft>
                <a:spcPts val="0"/>
              </a:spcAft>
              <a:buClr>
                <a:srgbClr val="002060"/>
              </a:buClr>
              <a:buSzPts val="4000"/>
              <a:buFont typeface="Palatino Linotype"/>
              <a:buNone/>
            </a:pPr>
            <a:r>
              <a:rPr b="1" lang="en-US" sz="4000">
                <a:solidFill>
                  <a:srgbClr val="002060"/>
                </a:solidFill>
                <a:latin typeface="Palatino Linotype"/>
                <a:ea typeface="Palatino Linotype"/>
                <a:cs typeface="Palatino Linotype"/>
                <a:sym typeface="Palatino Linotype"/>
              </a:rPr>
              <a:t>Conclusion &amp; Future Work</a:t>
            </a:r>
            <a:br>
              <a:rPr b="1" lang="en-US" sz="4000">
                <a:latin typeface="Palatino Linotype"/>
                <a:ea typeface="Palatino Linotype"/>
                <a:cs typeface="Palatino Linotype"/>
                <a:sym typeface="Palatino Linotype"/>
              </a:rPr>
            </a:br>
            <a:endParaRPr b="1" sz="4000">
              <a:latin typeface="Palatino Linotype"/>
              <a:ea typeface="Palatino Linotype"/>
              <a:cs typeface="Palatino Linotype"/>
              <a:sym typeface="Palatino Linotype"/>
            </a:endParaRPr>
          </a:p>
        </p:txBody>
      </p:sp>
      <p:sp>
        <p:nvSpPr>
          <p:cNvPr id="283" name="Google Shape;283;p32"/>
          <p:cNvSpPr txBox="1"/>
          <p:nvPr>
            <p:ph idx="1" type="body"/>
          </p:nvPr>
        </p:nvSpPr>
        <p:spPr>
          <a:xfrm>
            <a:off x="457200" y="1371600"/>
            <a:ext cx="8229600" cy="5029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7F7F7F"/>
              </a:buClr>
              <a:buSzPts val="1400"/>
              <a:buNone/>
            </a:pPr>
            <a:r>
              <a:rPr b="1" lang="en-US" sz="1400"/>
              <a:t>Summary of Key Findings</a:t>
            </a:r>
            <a:endParaRPr sz="1400"/>
          </a:p>
          <a:p>
            <a:pPr indent="0" lvl="0" marL="0" rtl="0" algn="l">
              <a:spcBef>
                <a:spcPts val="220"/>
              </a:spcBef>
              <a:spcAft>
                <a:spcPts val="0"/>
              </a:spcAft>
              <a:buClr>
                <a:srgbClr val="7F7F7F"/>
              </a:buClr>
              <a:buSzPts val="1100"/>
              <a:buNone/>
            </a:pPr>
            <a:r>
              <a:rPr b="1" lang="en-US" sz="1100"/>
              <a:t>    </a:t>
            </a:r>
            <a:r>
              <a:rPr lang="en-US" sz="1100"/>
              <a:t>The Predictive Data Model (PDM) has demonstrated that Covid-19 trends (cases, deaths, recoveries) can be forecasted with reasonable accuracy using historical data.</a:t>
            </a:r>
            <a:endParaRPr/>
          </a:p>
          <a:p>
            <a:pPr indent="0" lvl="0" marL="0" rtl="0" algn="l">
              <a:spcBef>
                <a:spcPts val="220"/>
              </a:spcBef>
              <a:spcAft>
                <a:spcPts val="0"/>
              </a:spcAft>
              <a:buClr>
                <a:srgbClr val="7F7F7F"/>
              </a:buClr>
              <a:buSzPts val="1100"/>
              <a:buNone/>
            </a:pPr>
            <a:r>
              <a:rPr lang="en-US" sz="1100"/>
              <a:t>    The model provides valuable insights into how government interventions (lockdowns, vaccination rates) and other factors (population density, travel patterns) affect the pandemics trajectory.</a:t>
            </a:r>
            <a:endParaRPr/>
          </a:p>
          <a:p>
            <a:pPr indent="0" lvl="0" marL="0" rtl="0" algn="l">
              <a:spcBef>
                <a:spcPts val="220"/>
              </a:spcBef>
              <a:spcAft>
                <a:spcPts val="0"/>
              </a:spcAft>
              <a:buClr>
                <a:srgbClr val="7F7F7F"/>
              </a:buClr>
              <a:buSzPts val="1100"/>
              <a:buNone/>
            </a:pPr>
            <a:r>
              <a:rPr lang="en-US" sz="1100"/>
              <a:t>    Data analysis from sources like Kaggle, WHO, and Bangladesh Government Health Ministry has contributed to understanding the global and local Covid-19 trends.</a:t>
            </a:r>
            <a:endParaRPr sz="1100"/>
          </a:p>
          <a:p>
            <a:pPr indent="0" lvl="0" marL="0" rtl="0" algn="l">
              <a:spcBef>
                <a:spcPts val="280"/>
              </a:spcBef>
              <a:spcAft>
                <a:spcPts val="0"/>
              </a:spcAft>
              <a:buClr>
                <a:srgbClr val="7F7F7F"/>
              </a:buClr>
              <a:buSzPts val="1400"/>
              <a:buNone/>
            </a:pPr>
            <a:r>
              <a:rPr b="1" lang="en-US" sz="1400"/>
              <a:t>Potential Applications of the Model</a:t>
            </a:r>
            <a:endParaRPr sz="1400"/>
          </a:p>
          <a:p>
            <a:pPr indent="0" lvl="0" marL="0" rtl="0" algn="l">
              <a:spcBef>
                <a:spcPts val="240"/>
              </a:spcBef>
              <a:spcAft>
                <a:spcPts val="0"/>
              </a:spcAft>
              <a:buClr>
                <a:srgbClr val="7F7F7F"/>
              </a:buClr>
              <a:buSzPts val="1200"/>
              <a:buNone/>
            </a:pPr>
            <a:r>
              <a:rPr lang="en-US" sz="1200"/>
              <a:t>    </a:t>
            </a:r>
            <a:r>
              <a:rPr b="1" lang="en-US" sz="1200"/>
              <a:t>Healthcare System Planning: </a:t>
            </a:r>
            <a:r>
              <a:rPr lang="en-US" sz="1100"/>
              <a:t>Predicts hospital resource needs (beds, ventilators) based on future Covid-19 cases.</a:t>
            </a:r>
            <a:endParaRPr/>
          </a:p>
          <a:p>
            <a:pPr indent="0" lvl="0" marL="0" rtl="0" algn="l">
              <a:spcBef>
                <a:spcPts val="240"/>
              </a:spcBef>
              <a:spcAft>
                <a:spcPts val="0"/>
              </a:spcAft>
              <a:buClr>
                <a:srgbClr val="7F7F7F"/>
              </a:buClr>
              <a:buSzPts val="1100"/>
              <a:buNone/>
            </a:pPr>
            <a:r>
              <a:rPr b="1" lang="en-US" sz="1100"/>
              <a:t>    </a:t>
            </a:r>
            <a:r>
              <a:rPr b="1" lang="en-US" sz="1200"/>
              <a:t>Government Policy: </a:t>
            </a:r>
            <a:r>
              <a:rPr lang="en-US" sz="1100"/>
              <a:t>Helps governments make data-driven decisions on lockdowns, social distancing, and vaccination strategies.</a:t>
            </a:r>
            <a:endParaRPr/>
          </a:p>
          <a:p>
            <a:pPr indent="0" lvl="0" marL="0" rtl="0" algn="l">
              <a:spcBef>
                <a:spcPts val="240"/>
              </a:spcBef>
              <a:spcAft>
                <a:spcPts val="0"/>
              </a:spcAft>
              <a:buClr>
                <a:srgbClr val="7F7F7F"/>
              </a:buClr>
              <a:buSzPts val="1100"/>
              <a:buNone/>
            </a:pPr>
            <a:r>
              <a:rPr b="1" lang="en-US" sz="1100"/>
              <a:t>    </a:t>
            </a:r>
            <a:r>
              <a:rPr b="1" lang="en-US" sz="1200"/>
              <a:t>Public Awareness: </a:t>
            </a:r>
            <a:r>
              <a:rPr lang="en-US" sz="1100"/>
              <a:t>Assists in informing the public about potential risks and preventive measures based on forecasts.</a:t>
            </a:r>
            <a:endParaRPr sz="1100"/>
          </a:p>
          <a:p>
            <a:pPr indent="0" lvl="0" marL="0" rtl="0" algn="l">
              <a:spcBef>
                <a:spcPts val="280"/>
              </a:spcBef>
              <a:spcAft>
                <a:spcPts val="0"/>
              </a:spcAft>
              <a:buClr>
                <a:srgbClr val="7F7F7F"/>
              </a:buClr>
              <a:buSzPts val="1400"/>
              <a:buNone/>
            </a:pPr>
            <a:r>
              <a:rPr b="1" lang="en-US" sz="1400"/>
              <a:t>Future Enhancements</a:t>
            </a:r>
            <a:endParaRPr b="1" sz="1400"/>
          </a:p>
          <a:p>
            <a:pPr indent="0" lvl="0" marL="0" rtl="0" algn="l">
              <a:spcBef>
                <a:spcPts val="240"/>
              </a:spcBef>
              <a:spcAft>
                <a:spcPts val="0"/>
              </a:spcAft>
              <a:buClr>
                <a:srgbClr val="7F7F7F"/>
              </a:buClr>
              <a:buSzPts val="1100"/>
              <a:buNone/>
            </a:pPr>
            <a:r>
              <a:rPr b="1" lang="en-US" sz="1100"/>
              <a:t>    </a:t>
            </a:r>
            <a:r>
              <a:rPr b="1" lang="en-US" sz="1200"/>
              <a:t>Real-Time Prediction: </a:t>
            </a:r>
            <a:r>
              <a:rPr lang="en-US" sz="1100"/>
              <a:t>Implementing a system that continuously updates predictions with incoming data, enabling real-time decision-making.</a:t>
            </a:r>
            <a:endParaRPr/>
          </a:p>
          <a:p>
            <a:pPr indent="0" lvl="0" marL="0" rtl="0" algn="l">
              <a:spcBef>
                <a:spcPts val="240"/>
              </a:spcBef>
              <a:spcAft>
                <a:spcPts val="0"/>
              </a:spcAft>
              <a:buClr>
                <a:srgbClr val="7F7F7F"/>
              </a:buClr>
              <a:buSzPts val="1200"/>
              <a:buNone/>
            </a:pPr>
            <a:r>
              <a:rPr b="1" lang="en-US" sz="1200"/>
              <a:t>    Advanced Models: </a:t>
            </a:r>
            <a:r>
              <a:rPr lang="en-US" sz="1100"/>
              <a:t>Explore more sophisticated machine learning models like Deep Learning (e.g., LSTMs, CNNs) and Reinforcement Learning for dynamic adjustments to predictions.</a:t>
            </a:r>
            <a:endParaRPr/>
          </a:p>
          <a:p>
            <a:pPr indent="0" lvl="0" marL="0" rtl="0" algn="l">
              <a:spcBef>
                <a:spcPts val="240"/>
              </a:spcBef>
              <a:spcAft>
                <a:spcPts val="0"/>
              </a:spcAft>
              <a:buClr>
                <a:srgbClr val="7F7F7F"/>
              </a:buClr>
              <a:buSzPts val="1200"/>
              <a:buNone/>
            </a:pPr>
            <a:r>
              <a:rPr b="1" lang="en-US" sz="1200"/>
              <a:t>    Geospatial Analysis</a:t>
            </a:r>
            <a:r>
              <a:rPr lang="en-US" sz="1200"/>
              <a:t>: </a:t>
            </a:r>
            <a:r>
              <a:rPr lang="en-US" sz="1100"/>
              <a:t>Incorporating geospatial data to predict regional outbreaks more accurately and enable location-specific interventions.</a:t>
            </a:r>
            <a:endParaRPr/>
          </a:p>
          <a:p>
            <a:pPr indent="0" lvl="0" marL="0" rtl="0" algn="l">
              <a:spcBef>
                <a:spcPts val="240"/>
              </a:spcBef>
              <a:spcAft>
                <a:spcPts val="0"/>
              </a:spcAft>
              <a:buClr>
                <a:srgbClr val="7F7F7F"/>
              </a:buClr>
              <a:buSzPts val="1100"/>
              <a:buNone/>
            </a:pPr>
            <a:r>
              <a:rPr b="1" lang="en-US" sz="1100"/>
              <a:t>    </a:t>
            </a:r>
            <a:r>
              <a:rPr b="1" lang="en-US" sz="1200"/>
              <a:t>Integration with IoT Devices</a:t>
            </a:r>
            <a:r>
              <a:rPr b="1" lang="en-US" sz="1100"/>
              <a:t>: </a:t>
            </a:r>
            <a:r>
              <a:rPr lang="en-US" sz="1100"/>
              <a:t>Using data from wearable devices (e.g., temperature sensors) for more granular predictions on individual health metrics.</a:t>
            </a:r>
            <a:endParaRPr sz="1100"/>
          </a:p>
        </p:txBody>
      </p:sp>
    </p:spTree>
  </p:cSld>
  <p:clrMapOvr>
    <a:masterClrMapping/>
  </p:clrMapOvr>
  <mc:AlternateContent>
    <mc:Choice Requires="p14">
      <p:transition spd="med">
        <p14:prism dir="l"/>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Autofit/>
          </a:bodyPr>
          <a:lstStyle/>
          <a:p>
            <a:pPr indent="0" lvl="0" marL="0" rtl="0" algn="ctr">
              <a:lnSpc>
                <a:spcPct val="181250"/>
              </a:lnSpc>
              <a:spcBef>
                <a:spcPts val="0"/>
              </a:spcBef>
              <a:spcAft>
                <a:spcPts val="0"/>
              </a:spcAft>
              <a:buClr>
                <a:schemeClr val="dk2"/>
              </a:buClr>
              <a:buSzPts val="3200"/>
              <a:buFont typeface="Palatino Linotype"/>
              <a:buNone/>
            </a:pPr>
            <a:br>
              <a:rPr b="1" lang="en-US" sz="3200">
                <a:latin typeface="Palatino Linotype"/>
                <a:ea typeface="Palatino Linotype"/>
                <a:cs typeface="Palatino Linotype"/>
                <a:sym typeface="Palatino Linotype"/>
              </a:rPr>
            </a:br>
            <a:r>
              <a:rPr b="1" lang="en-US" sz="3200"/>
              <a:t>References &amp; Acknowledgments</a:t>
            </a:r>
            <a:endParaRPr b="1" sz="3200">
              <a:latin typeface="Palatino Linotype"/>
              <a:ea typeface="Palatino Linotype"/>
              <a:cs typeface="Palatino Linotype"/>
              <a:sym typeface="Palatino Linotype"/>
            </a:endParaRPr>
          </a:p>
        </p:txBody>
      </p:sp>
      <p:sp>
        <p:nvSpPr>
          <p:cNvPr id="289" name="Google Shape;289;p33"/>
          <p:cNvSpPr txBox="1"/>
          <p:nvPr>
            <p:ph idx="1" type="body"/>
          </p:nvPr>
        </p:nvSpPr>
        <p:spPr>
          <a:xfrm>
            <a:off x="152401" y="1143000"/>
            <a:ext cx="8888082" cy="4038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7F7F7F"/>
              </a:buClr>
              <a:buSzPts val="1200"/>
              <a:buChar char="•"/>
            </a:pPr>
            <a:r>
              <a:rPr lang="en-US" sz="1200"/>
              <a:t> </a:t>
            </a:r>
            <a:r>
              <a:rPr b="1" lang="en-US" sz="1200"/>
              <a:t>Kaggle: Rahman, R., 2020. COVID-19 cases in Bangladesh dataset. [online] Available at: https://www.kaggle.com/datasets/rashikrahmanpritom/covid19-cases-in-bangladesh-dataset [Accessed 1 February 2025].</a:t>
            </a:r>
            <a:endParaRPr/>
          </a:p>
          <a:p>
            <a:pPr indent="-266700" lvl="0" marL="342900" rtl="0" algn="l">
              <a:spcBef>
                <a:spcPts val="240"/>
              </a:spcBef>
              <a:spcAft>
                <a:spcPts val="0"/>
              </a:spcAft>
              <a:buClr>
                <a:srgbClr val="7F7F7F"/>
              </a:buClr>
              <a:buSzPts val="1200"/>
              <a:buNone/>
            </a:pPr>
            <a:r>
              <a:t/>
            </a:r>
            <a:endParaRPr b="1" sz="1200"/>
          </a:p>
          <a:p>
            <a:pPr indent="-342900" lvl="0" marL="342900" rtl="0" algn="l">
              <a:spcBef>
                <a:spcPts val="240"/>
              </a:spcBef>
              <a:spcAft>
                <a:spcPts val="0"/>
              </a:spcAft>
              <a:buClr>
                <a:srgbClr val="7F7F7F"/>
              </a:buClr>
              <a:buSzPts val="1200"/>
              <a:buChar char="•"/>
            </a:pPr>
            <a:r>
              <a:rPr b="1" lang="en-US" sz="1200"/>
              <a:t>Our World in Data: Ritchie, H., 2020. Coronavirus Pandemic (COVID-19). [online] Available at: https://ourworldindata.org/coronavirus [Accessed 1 February 2025].</a:t>
            </a:r>
            <a:endParaRPr/>
          </a:p>
          <a:p>
            <a:pPr indent="-266700" lvl="0" marL="342900" rtl="0" algn="l">
              <a:spcBef>
                <a:spcPts val="240"/>
              </a:spcBef>
              <a:spcAft>
                <a:spcPts val="0"/>
              </a:spcAft>
              <a:buClr>
                <a:srgbClr val="7F7F7F"/>
              </a:buClr>
              <a:buSzPts val="1200"/>
              <a:buNone/>
            </a:pPr>
            <a:r>
              <a:t/>
            </a:r>
            <a:endParaRPr b="1" sz="1200"/>
          </a:p>
          <a:p>
            <a:pPr indent="-342900" lvl="0" marL="342900" rtl="0" algn="l">
              <a:spcBef>
                <a:spcPts val="240"/>
              </a:spcBef>
              <a:spcAft>
                <a:spcPts val="0"/>
              </a:spcAft>
              <a:buClr>
                <a:srgbClr val="7F7F7F"/>
              </a:buClr>
              <a:buSzPts val="1200"/>
              <a:buChar char="•"/>
            </a:pPr>
            <a:r>
              <a:rPr b="1" lang="en-US" sz="1200"/>
              <a:t>Johns Hopkins University COVID-19 Data Repository: CSSEGISandData, 2020. COVID-19 Data Repository by the Center for Systems Science and Engineering (CSSE) at Johns Hopkins University. [online] Available at: https://github.com/CSSEGISandData/COVID-19 [Accessed 1 February 2025].</a:t>
            </a:r>
            <a:endParaRPr/>
          </a:p>
          <a:p>
            <a:pPr indent="-266700" lvl="0" marL="342900" rtl="0" algn="l">
              <a:spcBef>
                <a:spcPts val="240"/>
              </a:spcBef>
              <a:spcAft>
                <a:spcPts val="0"/>
              </a:spcAft>
              <a:buClr>
                <a:srgbClr val="7F7F7F"/>
              </a:buClr>
              <a:buSzPts val="1200"/>
              <a:buNone/>
            </a:pPr>
            <a:r>
              <a:t/>
            </a:r>
            <a:endParaRPr b="1" sz="1200"/>
          </a:p>
          <a:p>
            <a:pPr indent="-342900" lvl="0" marL="342900" rtl="0" algn="l">
              <a:spcBef>
                <a:spcPts val="240"/>
              </a:spcBef>
              <a:spcAft>
                <a:spcPts val="0"/>
              </a:spcAft>
              <a:buClr>
                <a:srgbClr val="7F7F7F"/>
              </a:buClr>
              <a:buSzPts val="1200"/>
              <a:buChar char="•"/>
            </a:pPr>
            <a:r>
              <a:rPr b="1" lang="en-US" sz="1200"/>
              <a:t>OCHA Services: OCHA, 2020. District Wise Quarantine for COVID-19. [online] Available at: https://data.humdata.org/dataset/district-wise-quarantine-for-covid-19 [Accessed 1 February 2025].</a:t>
            </a:r>
            <a:endParaRPr/>
          </a:p>
          <a:p>
            <a:pPr indent="-266700" lvl="0" marL="342900" rtl="0" algn="l">
              <a:spcBef>
                <a:spcPts val="240"/>
              </a:spcBef>
              <a:spcAft>
                <a:spcPts val="0"/>
              </a:spcAft>
              <a:buClr>
                <a:srgbClr val="7F7F7F"/>
              </a:buClr>
              <a:buSzPts val="1200"/>
              <a:buNone/>
            </a:pPr>
            <a:r>
              <a:t/>
            </a:r>
            <a:endParaRPr b="1" sz="1200"/>
          </a:p>
          <a:p>
            <a:pPr indent="-342900" lvl="0" marL="342900" rtl="0" algn="l">
              <a:spcBef>
                <a:spcPts val="240"/>
              </a:spcBef>
              <a:spcAft>
                <a:spcPts val="0"/>
              </a:spcAft>
              <a:buClr>
                <a:srgbClr val="7F7F7F"/>
              </a:buClr>
              <a:buSzPts val="1200"/>
              <a:buChar char="•"/>
            </a:pPr>
            <a:r>
              <a:rPr b="1" lang="en-US" sz="1200"/>
              <a:t>World Health Organization (WHO): WHO, 2020. COVID-19 Country Dashboard. [online] Available at: https://data.who.int/countries/050 [Accessed 1 February 2025].</a:t>
            </a:r>
            <a:endParaRPr/>
          </a:p>
          <a:p>
            <a:pPr indent="-266700" lvl="0" marL="342900" rtl="0" algn="l">
              <a:spcBef>
                <a:spcPts val="240"/>
              </a:spcBef>
              <a:spcAft>
                <a:spcPts val="0"/>
              </a:spcAft>
              <a:buClr>
                <a:srgbClr val="7F7F7F"/>
              </a:buClr>
              <a:buSzPts val="1200"/>
              <a:buNone/>
            </a:pPr>
            <a:r>
              <a:t/>
            </a:r>
            <a:endParaRPr b="1" sz="1200"/>
          </a:p>
          <a:p>
            <a:pPr indent="-342900" lvl="0" marL="342900" rtl="0" algn="l">
              <a:spcBef>
                <a:spcPts val="240"/>
              </a:spcBef>
              <a:spcAft>
                <a:spcPts val="0"/>
              </a:spcAft>
              <a:buClr>
                <a:srgbClr val="7F7F7F"/>
              </a:buClr>
              <a:buSzPts val="1200"/>
              <a:buChar char="•"/>
            </a:pPr>
            <a:r>
              <a:rPr b="1" lang="en-US" sz="1200"/>
              <a:t>Bangladesh Government Health Ministry: Ministry of Health and Family Welfare, 2024. Covid-19 Division-wise Data. [online] Available at: https://www.dghealth.gov.bd [Accessed 1 February 2025].</a:t>
            </a:r>
            <a:endParaRPr/>
          </a:p>
          <a:p>
            <a:pPr indent="-266700" lvl="0" marL="342900" rtl="0" algn="l">
              <a:spcBef>
                <a:spcPts val="240"/>
              </a:spcBef>
              <a:spcAft>
                <a:spcPts val="0"/>
              </a:spcAft>
              <a:buClr>
                <a:srgbClr val="7F7F7F"/>
              </a:buClr>
              <a:buSzPts val="1200"/>
              <a:buNone/>
            </a:pPr>
            <a:r>
              <a:t/>
            </a:r>
            <a:endParaRPr b="1" sz="1200"/>
          </a:p>
          <a:p>
            <a:pPr indent="-342900" lvl="0" marL="342900" rtl="0" algn="l">
              <a:spcBef>
                <a:spcPts val="240"/>
              </a:spcBef>
              <a:spcAft>
                <a:spcPts val="0"/>
              </a:spcAft>
              <a:buClr>
                <a:srgbClr val="7F7F7F"/>
              </a:buClr>
              <a:buSzPts val="1200"/>
              <a:buChar char="•"/>
            </a:pPr>
            <a:r>
              <a:rPr b="1" lang="en-US" sz="1200"/>
              <a:t>Mendeley Dataset: Mendeley, 2020. District-wise Quarantine for COVID-19. [online] Available at: https://data.mendeley.com/datasets/b98d8mj2xk/1 </a:t>
            </a:r>
            <a:endParaRPr b="1" sz="1200"/>
          </a:p>
        </p:txBody>
      </p:sp>
      <p:sp>
        <p:nvSpPr>
          <p:cNvPr id="290" name="Google Shape;290;p33"/>
          <p:cNvSpPr/>
          <p:nvPr/>
        </p:nvSpPr>
        <p:spPr>
          <a:xfrm>
            <a:off x="0" y="5181600"/>
            <a:ext cx="9144000" cy="1676400"/>
          </a:xfrm>
          <a:prstGeom prst="rect">
            <a:avLst/>
          </a:prstGeom>
          <a:gradFill>
            <a:gsLst>
              <a:gs pos="0">
                <a:srgbClr val="FFB983"/>
              </a:gs>
              <a:gs pos="35000">
                <a:srgbClr val="FFCCA8"/>
              </a:gs>
              <a:gs pos="100000">
                <a:srgbClr val="FFE9DB"/>
              </a:gs>
            </a:gsLst>
            <a:lin ang="16200000" scaled="0"/>
          </a:gradFill>
          <a:ln cap="flat" cmpd="sng" w="9525">
            <a:solidFill>
              <a:srgbClr val="E47F1C"/>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accent2"/>
                </a:solidFill>
                <a:latin typeface="Palatino Linotype"/>
                <a:ea typeface="Palatino Linotype"/>
                <a:cs typeface="Palatino Linotype"/>
                <a:sym typeface="Palatino Linotype"/>
              </a:rPr>
              <a:t>William Bate </a:t>
            </a:r>
            <a:endParaRPr/>
          </a:p>
          <a:p>
            <a:pPr indent="0" lvl="0" marL="0" marR="0" rtl="0" algn="ctr">
              <a:spcBef>
                <a:spcPts val="0"/>
              </a:spcBef>
              <a:spcAft>
                <a:spcPts val="0"/>
              </a:spcAft>
              <a:buNone/>
            </a:pPr>
            <a:r>
              <a:rPr lang="en-US" sz="1400">
                <a:solidFill>
                  <a:schemeClr val="accent2"/>
                </a:solidFill>
                <a:latin typeface="Palatino Linotype"/>
                <a:ea typeface="Palatino Linotype"/>
                <a:cs typeface="Palatino Linotype"/>
                <a:sym typeface="Palatino Linotype"/>
              </a:rPr>
              <a:t>Email Address: </a:t>
            </a:r>
            <a:r>
              <a:rPr lang="en-US" sz="1400" u="sng">
                <a:solidFill>
                  <a:schemeClr val="accent2"/>
                </a:solidFill>
                <a:latin typeface="Palatino Linotype"/>
                <a:ea typeface="Palatino Linotype"/>
                <a:cs typeface="Palatino Linotype"/>
                <a:sym typeface="Palatino Linotype"/>
                <a:hlinkClick r:id="rId3">
                  <a:extLst>
                    <a:ext uri="{A12FA001-AC4F-418D-AE19-62706E023703}">
                      <ahyp:hlinkClr val="tx"/>
                    </a:ext>
                  </a:extLst>
                </a:hlinkClick>
              </a:rPr>
              <a:t>w.bate@herts.ac.uk</a:t>
            </a:r>
            <a:endParaRPr sz="1400">
              <a:solidFill>
                <a:schemeClr val="accent2"/>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1400">
                <a:solidFill>
                  <a:schemeClr val="accent2"/>
                </a:solidFill>
                <a:latin typeface="Palatino Linotype"/>
                <a:ea typeface="Palatino Linotype"/>
                <a:cs typeface="Palatino Linotype"/>
                <a:sym typeface="Palatino Linotype"/>
              </a:rPr>
              <a:t>University of Hertfordshire</a:t>
            </a:r>
            <a:endParaRPr/>
          </a:p>
          <a:p>
            <a:pPr indent="0" lvl="0" marL="0" marR="0" rtl="0" algn="ctr">
              <a:spcBef>
                <a:spcPts val="0"/>
              </a:spcBef>
              <a:spcAft>
                <a:spcPts val="0"/>
              </a:spcAft>
              <a:buNone/>
            </a:pPr>
            <a:r>
              <a:rPr lang="en-US" sz="1400">
                <a:solidFill>
                  <a:schemeClr val="accent2"/>
                </a:solidFill>
                <a:latin typeface="Palatino Linotype"/>
                <a:ea typeface="Palatino Linotype"/>
                <a:cs typeface="Palatino Linotype"/>
                <a:sym typeface="Palatino Linotype"/>
              </a:rPr>
              <a:t>   College Lane, Hatfield, </a:t>
            </a:r>
            <a:endParaRPr/>
          </a:p>
          <a:p>
            <a:pPr indent="0" lvl="0" marL="0" marR="0" rtl="0" algn="ctr">
              <a:spcBef>
                <a:spcPts val="0"/>
              </a:spcBef>
              <a:spcAft>
                <a:spcPts val="0"/>
              </a:spcAft>
              <a:buNone/>
            </a:pPr>
            <a:r>
              <a:rPr lang="en-US" sz="1400">
                <a:solidFill>
                  <a:schemeClr val="accent2"/>
                </a:solidFill>
                <a:latin typeface="Palatino Linotype"/>
                <a:ea typeface="Palatino Linotype"/>
                <a:cs typeface="Palatino Linotype"/>
                <a:sym typeface="Palatino Linotype"/>
              </a:rPr>
              <a:t>  Herts AL10 9AB, United Kingdom</a:t>
            </a:r>
            <a:endParaRPr/>
          </a:p>
          <a:p>
            <a:pPr indent="0" lvl="0" marL="0" marR="0" rtl="0" algn="ctr">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p:txBody>
      </p:sp>
    </p:spTree>
  </p:cSld>
  <p:clrMapOvr>
    <a:masterClrMapping/>
  </p:clrMapOvr>
  <mc:AlternateContent>
    <mc:Choice Requires="p14">
      <p:transition>
        <p14:warp dir="in"/>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457200" y="274638"/>
            <a:ext cx="8229600" cy="4678362"/>
          </a:xfrm>
          <a:prstGeom prst="rect">
            <a:avLst/>
          </a:prstGeom>
          <a:noFill/>
          <a:ln>
            <a:noFill/>
          </a:ln>
        </p:spPr>
        <p:txBody>
          <a:bodyPr anchorCtr="0" anchor="b" bIns="45700" lIns="91425" spcFirstLastPara="1" rIns="91425" wrap="square" tIns="45700">
            <a:normAutofit/>
          </a:bodyPr>
          <a:lstStyle/>
          <a:p>
            <a:pPr indent="0" lvl="0" marL="0" rtl="0" algn="ctr">
              <a:lnSpc>
                <a:spcPct val="72500"/>
              </a:lnSpc>
              <a:spcBef>
                <a:spcPts val="0"/>
              </a:spcBef>
              <a:spcAft>
                <a:spcPts val="0"/>
              </a:spcAft>
              <a:buClr>
                <a:srgbClr val="002060"/>
              </a:buClr>
              <a:buSzPts val="8000"/>
              <a:buFont typeface="Palatino Linotype"/>
              <a:buNone/>
            </a:pPr>
            <a:r>
              <a:rPr b="1" lang="en-US" sz="8000">
                <a:solidFill>
                  <a:srgbClr val="002060"/>
                </a:solidFill>
              </a:rPr>
              <a:t>Thank you </a:t>
            </a:r>
            <a:endParaRPr b="1" sz="8000">
              <a:solidFill>
                <a:srgbClr val="002060"/>
              </a:solidFill>
            </a:endParaRPr>
          </a:p>
        </p:txBody>
      </p:sp>
    </p:spTree>
  </p:cSld>
  <p:clrMapOvr>
    <a:masterClrMapping/>
  </p:clrMapOvr>
  <mc:AlternateContent>
    <mc:Choice Requires="p14">
      <p:transition p14:dur="250">
        <p14:flash/>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xecutive">
  <a:themeElements>
    <a:clrScheme name="Executive">
      <a:dk1>
        <a:srgbClr val="000000"/>
      </a:dk1>
      <a:lt1>
        <a:srgbClr val="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HBR</dc:creator>
</cp:coreProperties>
</file>